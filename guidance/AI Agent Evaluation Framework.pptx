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9" r:id="rId10"/>
    <p:sldId id="271" r:id="rId11"/>
    <p:sldId id="272" r:id="rId12"/>
    <p:sldId id="273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80195D-5169-4925-9556-07D03C2D3D8E}" v="83" dt="2026-01-29T22:33:21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52" d="100"/>
          <a:sy n="52" d="100"/>
        </p:scale>
        <p:origin x="5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ena Xie" userId="27f41826-6e6e-4c95-b1d8-974278833864" providerId="ADAL" clId="{D3397E65-0846-4B41-B37B-39EE2AE3686F}"/>
    <pc:docChg chg="undo custSel modSld">
      <pc:chgData name="Serena Xie" userId="27f41826-6e6e-4c95-b1d8-974278833864" providerId="ADAL" clId="{D3397E65-0846-4B41-B37B-39EE2AE3686F}" dt="2026-01-29T22:33:21.715" v="127" actId="20577"/>
      <pc:docMkLst>
        <pc:docMk/>
      </pc:docMkLst>
      <pc:sldChg chg="addSp modSp mod">
        <pc:chgData name="Serena Xie" userId="27f41826-6e6e-4c95-b1d8-974278833864" providerId="ADAL" clId="{D3397E65-0846-4B41-B37B-39EE2AE3686F}" dt="2026-01-29T22:33:21.715" v="127" actId="20577"/>
        <pc:sldMkLst>
          <pc:docMk/>
          <pc:sldMk cId="1746693913" sldId="256"/>
        </pc:sldMkLst>
        <pc:spChg chg="mod">
          <ac:chgData name="Serena Xie" userId="27f41826-6e6e-4c95-b1d8-974278833864" providerId="ADAL" clId="{D3397E65-0846-4B41-B37B-39EE2AE3686F}" dt="2026-01-29T22:28:32.643" v="90" actId="207"/>
          <ac:spMkLst>
            <pc:docMk/>
            <pc:sldMk cId="1746693913" sldId="256"/>
            <ac:spMk id="2" creationId="{09010212-D623-733B-F552-4D9584B555DF}"/>
          </ac:spMkLst>
        </pc:spChg>
        <pc:spChg chg="mod">
          <ac:chgData name="Serena Xie" userId="27f41826-6e6e-4c95-b1d8-974278833864" providerId="ADAL" clId="{D3397E65-0846-4B41-B37B-39EE2AE3686F}" dt="2026-01-29T22:33:21.715" v="127" actId="20577"/>
          <ac:spMkLst>
            <pc:docMk/>
            <pc:sldMk cId="1746693913" sldId="256"/>
            <ac:spMk id="3" creationId="{26E75B31-C424-26BE-4403-CA5792FBA064}"/>
          </ac:spMkLst>
        </pc:spChg>
        <pc:spChg chg="add mod ord">
          <ac:chgData name="Serena Xie" userId="27f41826-6e6e-4c95-b1d8-974278833864" providerId="ADAL" clId="{D3397E65-0846-4B41-B37B-39EE2AE3686F}" dt="2026-01-29T22:28:38.708" v="92" actId="14100"/>
          <ac:spMkLst>
            <pc:docMk/>
            <pc:sldMk cId="1746693913" sldId="256"/>
            <ac:spMk id="4" creationId="{FDA689C3-B0B4-46B2-27CA-D7625130534F}"/>
          </ac:spMkLst>
        </pc:spChg>
      </pc:sldChg>
      <pc:sldChg chg="modSp mod">
        <pc:chgData name="Serena Xie" userId="27f41826-6e6e-4c95-b1d8-974278833864" providerId="ADAL" clId="{D3397E65-0846-4B41-B37B-39EE2AE3686F}" dt="2026-01-29T22:22:41.935" v="44" actId="20577"/>
        <pc:sldMkLst>
          <pc:docMk/>
          <pc:sldMk cId="1124746007" sldId="259"/>
        </pc:sldMkLst>
        <pc:spChg chg="mod">
          <ac:chgData name="Serena Xie" userId="27f41826-6e6e-4c95-b1d8-974278833864" providerId="ADAL" clId="{D3397E65-0846-4B41-B37B-39EE2AE3686F}" dt="2026-01-29T22:22:41.935" v="44" actId="20577"/>
          <ac:spMkLst>
            <pc:docMk/>
            <pc:sldMk cId="1124746007" sldId="259"/>
            <ac:spMk id="7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8:55.894" v="17" actId="207"/>
          <ac:spMkLst>
            <pc:docMk/>
            <pc:sldMk cId="1124746007" sldId="259"/>
            <ac:spMk id="17" creationId="{00000000-0000-0000-0000-000000000000}"/>
          </ac:spMkLst>
        </pc:spChg>
      </pc:sldChg>
      <pc:sldChg chg="modSp mod">
        <pc:chgData name="Serena Xie" userId="27f41826-6e6e-4c95-b1d8-974278833864" providerId="ADAL" clId="{D3397E65-0846-4B41-B37B-39EE2AE3686F}" dt="2026-01-29T15:59:03.279" v="18" actId="207"/>
        <pc:sldMkLst>
          <pc:docMk/>
          <pc:sldMk cId="1500726267" sldId="261"/>
        </pc:sldMkLst>
        <pc:spChg chg="mod">
          <ac:chgData name="Serena Xie" userId="27f41826-6e6e-4c95-b1d8-974278833864" providerId="ADAL" clId="{D3397E65-0846-4B41-B37B-39EE2AE3686F}" dt="2026-01-29T15:59:03.279" v="18" actId="207"/>
          <ac:spMkLst>
            <pc:docMk/>
            <pc:sldMk cId="1500726267" sldId="261"/>
            <ac:spMk id="5" creationId="{1ADA279D-D6AD-5CFA-1646-734EA33C0A0F}"/>
          </ac:spMkLst>
        </pc:spChg>
        <pc:spChg chg="mod">
          <ac:chgData name="Serena Xie" userId="27f41826-6e6e-4c95-b1d8-974278833864" providerId="ADAL" clId="{D3397E65-0846-4B41-B37B-39EE2AE3686F}" dt="2026-01-29T15:59:03.279" v="18" actId="207"/>
          <ac:spMkLst>
            <pc:docMk/>
            <pc:sldMk cId="1500726267" sldId="261"/>
            <ac:spMk id="12" creationId="{B16688F5-8064-03E4-7450-0EEC2D9C013F}"/>
          </ac:spMkLst>
        </pc:spChg>
        <pc:spChg chg="mod">
          <ac:chgData name="Serena Xie" userId="27f41826-6e6e-4c95-b1d8-974278833864" providerId="ADAL" clId="{D3397E65-0846-4B41-B37B-39EE2AE3686F}" dt="2026-01-29T15:59:03.279" v="18" actId="207"/>
          <ac:spMkLst>
            <pc:docMk/>
            <pc:sldMk cId="1500726267" sldId="261"/>
            <ac:spMk id="19" creationId="{2264BDC7-D517-86DD-DE27-E3A944E24E86}"/>
          </ac:spMkLst>
        </pc:spChg>
        <pc:spChg chg="mod">
          <ac:chgData name="Serena Xie" userId="27f41826-6e6e-4c95-b1d8-974278833864" providerId="ADAL" clId="{D3397E65-0846-4B41-B37B-39EE2AE3686F}" dt="2026-01-29T15:59:03.279" v="18" actId="207"/>
          <ac:spMkLst>
            <pc:docMk/>
            <pc:sldMk cId="1500726267" sldId="261"/>
            <ac:spMk id="26" creationId="{602B80C8-3F10-C6F9-9028-E7ED8966ECB9}"/>
          </ac:spMkLst>
        </pc:spChg>
      </pc:sldChg>
      <pc:sldChg chg="modSp mod">
        <pc:chgData name="Serena Xie" userId="27f41826-6e6e-4c95-b1d8-974278833864" providerId="ADAL" clId="{D3397E65-0846-4B41-B37B-39EE2AE3686F}" dt="2026-01-29T15:58:49.243" v="16" actId="207"/>
        <pc:sldMkLst>
          <pc:docMk/>
          <pc:sldMk cId="549580210" sldId="262"/>
        </pc:sldMkLst>
        <pc:spChg chg="mod">
          <ac:chgData name="Serena Xie" userId="27f41826-6e6e-4c95-b1d8-974278833864" providerId="ADAL" clId="{D3397E65-0846-4B41-B37B-39EE2AE3686F}" dt="2026-01-29T15:53:19.118" v="6" actId="1076"/>
          <ac:spMkLst>
            <pc:docMk/>
            <pc:sldMk cId="549580210" sldId="262"/>
            <ac:spMk id="2" creationId="{0E7E0C66-4EE2-074B-08A3-2464CB8DC09C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7" creationId="{6589E841-ABCD-52D5-1884-9353989DC3FA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12" creationId="{7ACBB6AD-70FF-24B5-5DA4-A41FEB824CED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22" creationId="{932F9B90-2B1B-0A00-8D15-1B5CBE262425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23" creationId="{C6D2BA35-B4F9-2524-CCB7-9EF80F458D17}"/>
          </ac:spMkLst>
        </pc:spChg>
        <pc:spChg chg="mod">
          <ac:chgData name="Serena Xie" userId="27f41826-6e6e-4c95-b1d8-974278833864" providerId="ADAL" clId="{D3397E65-0846-4B41-B37B-39EE2AE3686F}" dt="2026-01-29T15:58:49.243" v="16" actId="207"/>
          <ac:spMkLst>
            <pc:docMk/>
            <pc:sldMk cId="549580210" sldId="262"/>
            <ac:spMk id="24" creationId="{E9FF06DC-21E2-43D4-0807-A9D478F7CDFA}"/>
          </ac:spMkLst>
        </pc:spChg>
        <pc:spChg chg="mod">
          <ac:chgData name="Serena Xie" userId="27f41826-6e6e-4c95-b1d8-974278833864" providerId="ADAL" clId="{D3397E65-0846-4B41-B37B-39EE2AE3686F}" dt="2026-01-29T15:53:48.258" v="9" actId="1076"/>
          <ac:spMkLst>
            <pc:docMk/>
            <pc:sldMk cId="549580210" sldId="262"/>
            <ac:spMk id="25" creationId="{9198A646-ED89-3EF8-40D9-63EE49E79796}"/>
          </ac:spMkLst>
        </pc:spChg>
        <pc:spChg chg="mod">
          <ac:chgData name="Serena Xie" userId="27f41826-6e6e-4c95-b1d8-974278833864" providerId="ADAL" clId="{D3397E65-0846-4B41-B37B-39EE2AE3686F}" dt="2026-01-29T15:53:48.258" v="9" actId="1076"/>
          <ac:spMkLst>
            <pc:docMk/>
            <pc:sldMk cId="549580210" sldId="262"/>
            <ac:spMk id="26" creationId="{F42F3FF6-27E9-C30D-41C5-7899F955CFF4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27" creationId="{5A18B5DA-FF5A-61BC-2C3D-2224B375CA0F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28" creationId="{5BDF5E5D-F1B8-1A60-48F9-A9D540923C2B}"/>
          </ac:spMkLst>
        </pc:spChg>
        <pc:spChg chg="mod">
          <ac:chgData name="Serena Xie" userId="27f41826-6e6e-4c95-b1d8-974278833864" providerId="ADAL" clId="{D3397E65-0846-4B41-B37B-39EE2AE3686F}" dt="2026-01-29T15:53:25.160" v="7" actId="207"/>
          <ac:spMkLst>
            <pc:docMk/>
            <pc:sldMk cId="549580210" sldId="262"/>
            <ac:spMk id="29" creationId="{14B0AABA-6E92-CF73-1432-38F6F5E1089E}"/>
          </ac:spMkLst>
        </pc:spChg>
      </pc:sldChg>
      <pc:sldChg chg="modSp mod">
        <pc:chgData name="Serena Xie" userId="27f41826-6e6e-4c95-b1d8-974278833864" providerId="ADAL" clId="{D3397E65-0846-4B41-B37B-39EE2AE3686F}" dt="2026-01-29T22:27:03.940" v="74" actId="20577"/>
        <pc:sldMkLst>
          <pc:docMk/>
          <pc:sldMk cId="37106554" sldId="263"/>
        </pc:sldMkLst>
        <pc:spChg chg="mod">
          <ac:chgData name="Serena Xie" userId="27f41826-6e6e-4c95-b1d8-974278833864" providerId="ADAL" clId="{D3397E65-0846-4B41-B37B-39EE2AE3686F}" dt="2026-01-29T15:59:17.163" v="19" actId="207"/>
          <ac:spMkLst>
            <pc:docMk/>
            <pc:sldMk cId="37106554" sldId="263"/>
            <ac:spMk id="5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6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8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12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14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16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17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59.991" v="3" actId="207"/>
          <ac:spMkLst>
            <pc:docMk/>
            <pc:sldMk cId="37106554" sldId="263"/>
            <ac:spMk id="18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2:07.189" v="4" actId="207"/>
          <ac:spMkLst>
            <pc:docMk/>
            <pc:sldMk cId="37106554" sldId="263"/>
            <ac:spMk id="19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22:27:03.940" v="74" actId="20577"/>
          <ac:spMkLst>
            <pc:docMk/>
            <pc:sldMk cId="37106554" sldId="263"/>
            <ac:spMk id="20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2:07.189" v="4" actId="207"/>
          <ac:spMkLst>
            <pc:docMk/>
            <pc:sldMk cId="37106554" sldId="263"/>
            <ac:spMk id="21" creationId="{00000000-0000-0000-0000-000000000000}"/>
          </ac:spMkLst>
        </pc:spChg>
      </pc:sldChg>
      <pc:sldChg chg="modSp mod">
        <pc:chgData name="Serena Xie" userId="27f41826-6e6e-4c95-b1d8-974278833864" providerId="ADAL" clId="{D3397E65-0846-4B41-B37B-39EE2AE3686F}" dt="2026-01-29T15:59:24.161" v="20" actId="207"/>
        <pc:sldMkLst>
          <pc:docMk/>
          <pc:sldMk cId="1691526085" sldId="266"/>
        </pc:sldMkLst>
        <pc:spChg chg="mod">
          <ac:chgData name="Serena Xie" userId="27f41826-6e6e-4c95-b1d8-974278833864" providerId="ADAL" clId="{D3397E65-0846-4B41-B37B-39EE2AE3686F}" dt="2026-01-29T15:51:50.636" v="2" actId="207"/>
          <ac:spMkLst>
            <pc:docMk/>
            <pc:sldMk cId="1691526085" sldId="266"/>
            <ac:spMk id="3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4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7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9:24.161" v="20" actId="207"/>
          <ac:spMkLst>
            <pc:docMk/>
            <pc:sldMk cId="1691526085" sldId="266"/>
            <ac:spMk id="18" creationId="{502B928B-A621-CAB8-7756-D7A743896802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21" creationId="{78ACC435-CE62-446C-2744-4C581D194BF3}"/>
          </ac:spMkLst>
        </pc:spChg>
        <pc:spChg chg="mod">
          <ac:chgData name="Serena Xie" userId="27f41826-6e6e-4c95-b1d8-974278833864" providerId="ADAL" clId="{D3397E65-0846-4B41-B37B-39EE2AE3686F}" dt="2026-01-29T15:59:24.161" v="20" actId="207"/>
          <ac:spMkLst>
            <pc:docMk/>
            <pc:sldMk cId="1691526085" sldId="266"/>
            <ac:spMk id="23" creationId="{97B38EBF-C953-F13F-3C25-3DFC1394A7B3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27" creationId="{B11C7211-F75D-5687-5B7D-5A442F309485}"/>
          </ac:spMkLst>
        </pc:spChg>
        <pc:spChg chg="mod">
          <ac:chgData name="Serena Xie" userId="27f41826-6e6e-4c95-b1d8-974278833864" providerId="ADAL" clId="{D3397E65-0846-4B41-B37B-39EE2AE3686F}" dt="2026-01-29T15:59:24.161" v="20" actId="207"/>
          <ac:spMkLst>
            <pc:docMk/>
            <pc:sldMk cId="1691526085" sldId="266"/>
            <ac:spMk id="28" creationId="{67EB6139-B196-4DBC-76A0-E4DC119924AC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30" creationId="{CDB616A3-2432-7183-2CA4-AD01894F41CF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31" creationId="{0C7A66CA-AB6D-7A3C-6DD9-F2FCE8922FF3}"/>
          </ac:spMkLst>
        </pc:spChg>
        <pc:spChg chg="mod">
          <ac:chgData name="Serena Xie" userId="27f41826-6e6e-4c95-b1d8-974278833864" providerId="ADAL" clId="{D3397E65-0846-4B41-B37B-39EE2AE3686F}" dt="2026-01-29T15:59:24.161" v="20" actId="207"/>
          <ac:spMkLst>
            <pc:docMk/>
            <pc:sldMk cId="1691526085" sldId="266"/>
            <ac:spMk id="33" creationId="{DD6710CD-2650-2176-3CBC-831DB50EAF2E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35" creationId="{0F335E38-2DA3-CBB1-88E7-6FC775B5F0AB}"/>
          </ac:spMkLst>
        </pc:spChg>
        <pc:spChg chg="mod">
          <ac:chgData name="Serena Xie" userId="27f41826-6e6e-4c95-b1d8-974278833864" providerId="ADAL" clId="{D3397E65-0846-4B41-B37B-39EE2AE3686F}" dt="2026-01-29T15:51:28.199" v="1" actId="207"/>
          <ac:spMkLst>
            <pc:docMk/>
            <pc:sldMk cId="1691526085" sldId="266"/>
            <ac:spMk id="36" creationId="{0F976EDE-B95C-0AF0-531C-CCDD7305136D}"/>
          </ac:spMkLst>
        </pc:spChg>
      </pc:sldChg>
      <pc:sldChg chg="modSp mod">
        <pc:chgData name="Serena Xie" userId="27f41826-6e6e-4c95-b1d8-974278833864" providerId="ADAL" clId="{D3397E65-0846-4B41-B37B-39EE2AE3686F}" dt="2026-01-29T15:59:30.332" v="21" actId="207"/>
        <pc:sldMkLst>
          <pc:docMk/>
          <pc:sldMk cId="3617790347" sldId="269"/>
        </pc:sldMkLst>
        <pc:spChg chg="mod">
          <ac:chgData name="Serena Xie" userId="27f41826-6e6e-4c95-b1d8-974278833864" providerId="ADAL" clId="{D3397E65-0846-4B41-B37B-39EE2AE3686F}" dt="2026-01-29T15:59:30.332" v="21" actId="207"/>
          <ac:spMkLst>
            <pc:docMk/>
            <pc:sldMk cId="3617790347" sldId="269"/>
            <ac:spMk id="9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9:30.332" v="21" actId="207"/>
          <ac:spMkLst>
            <pc:docMk/>
            <pc:sldMk cId="3617790347" sldId="269"/>
            <ac:spMk id="17" creationId="{00000000-0000-0000-0000-000000000000}"/>
          </ac:spMkLst>
        </pc:spChg>
      </pc:sldChg>
      <pc:sldChg chg="modSp mod">
        <pc:chgData name="Serena Xie" userId="27f41826-6e6e-4c95-b1d8-974278833864" providerId="ADAL" clId="{D3397E65-0846-4B41-B37B-39EE2AE3686F}" dt="2026-01-29T16:00:02.577" v="24" actId="207"/>
        <pc:sldMkLst>
          <pc:docMk/>
          <pc:sldMk cId="3826351132" sldId="272"/>
        </pc:sldMkLst>
        <pc:spChg chg="mod">
          <ac:chgData name="Serena Xie" userId="27f41826-6e6e-4c95-b1d8-974278833864" providerId="ADAL" clId="{D3397E65-0846-4B41-B37B-39EE2AE3686F}" dt="2026-01-29T16:00:02.577" v="24" actId="207"/>
          <ac:spMkLst>
            <pc:docMk/>
            <pc:sldMk cId="3826351132" sldId="272"/>
            <ac:spMk id="4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9:58.384" v="23" actId="207"/>
          <ac:spMkLst>
            <pc:docMk/>
            <pc:sldMk cId="3826351132" sldId="272"/>
            <ac:spMk id="7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9:58.384" v="23" actId="207"/>
          <ac:spMkLst>
            <pc:docMk/>
            <pc:sldMk cId="3826351132" sldId="272"/>
            <ac:spMk id="13" creationId="{00000000-0000-0000-0000-000000000000}"/>
          </ac:spMkLst>
        </pc:spChg>
      </pc:sldChg>
      <pc:sldChg chg="modSp mod">
        <pc:chgData name="Serena Xie" userId="27f41826-6e6e-4c95-b1d8-974278833864" providerId="ADAL" clId="{D3397E65-0846-4B41-B37B-39EE2AE3686F}" dt="2026-01-29T16:00:08.051" v="25" actId="207"/>
        <pc:sldMkLst>
          <pc:docMk/>
          <pc:sldMk cId="1853158345" sldId="275"/>
        </pc:sldMkLst>
        <pc:spChg chg="mod">
          <ac:chgData name="Serena Xie" userId="27f41826-6e6e-4c95-b1d8-974278833864" providerId="ADAL" clId="{D3397E65-0846-4B41-B37B-39EE2AE3686F}" dt="2026-01-29T16:00:08.051" v="25" actId="207"/>
          <ac:spMkLst>
            <pc:docMk/>
            <pc:sldMk cId="1853158345" sldId="275"/>
            <ac:spMk id="9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6:00:08.051" v="25" actId="207"/>
          <ac:spMkLst>
            <pc:docMk/>
            <pc:sldMk cId="1853158345" sldId="275"/>
            <ac:spMk id="15" creationId="{00000000-0000-0000-0000-000000000000}"/>
          </ac:spMkLst>
        </pc:spChg>
      </pc:sldChg>
      <pc:sldChg chg="addSp modSp mod">
        <pc:chgData name="Serena Xie" userId="27f41826-6e6e-4c95-b1d8-974278833864" providerId="ADAL" clId="{D3397E65-0846-4B41-B37B-39EE2AE3686F}" dt="2026-01-29T16:00:38.119" v="32" actId="14100"/>
        <pc:sldMkLst>
          <pc:docMk/>
          <pc:sldMk cId="2825893856" sldId="276"/>
        </pc:sldMkLst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2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6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7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8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10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14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16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18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1:09.741" v="0" actId="207"/>
          <ac:spMkLst>
            <pc:docMk/>
            <pc:sldMk cId="2825893856" sldId="276"/>
            <ac:spMk id="22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6:00:38.119" v="32" actId="14100"/>
          <ac:spMkLst>
            <pc:docMk/>
            <pc:sldMk cId="2825893856" sldId="276"/>
            <ac:spMk id="24" creationId="{00000000-0000-0000-0000-000000000000}"/>
          </ac:spMkLst>
        </pc:spChg>
        <pc:spChg chg="mod">
          <ac:chgData name="Serena Xie" userId="27f41826-6e6e-4c95-b1d8-974278833864" providerId="ADAL" clId="{D3397E65-0846-4B41-B37B-39EE2AE3686F}" dt="2026-01-29T15:56:00.965" v="15" actId="113"/>
          <ac:spMkLst>
            <pc:docMk/>
            <pc:sldMk cId="2825893856" sldId="276"/>
            <ac:spMk id="25" creationId="{00000000-0000-0000-0000-000000000000}"/>
          </ac:spMkLst>
        </pc:spChg>
        <pc:spChg chg="add mod ord">
          <ac:chgData name="Serena Xie" userId="27f41826-6e6e-4c95-b1d8-974278833864" providerId="ADAL" clId="{D3397E65-0846-4B41-B37B-39EE2AE3686F}" dt="2026-01-29T16:00:35.729" v="31" actId="14100"/>
          <ac:spMkLst>
            <pc:docMk/>
            <pc:sldMk cId="2825893856" sldId="276"/>
            <ac:spMk id="26" creationId="{7336C581-BB47-1518-936D-45B0F28A0C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44625-4F92-4414-A8D3-7AEBB6FBF76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B125E-2B54-4B03-B76F-CA9336008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02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2DAD-BFD8-6C71-1914-D8FFCFE2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C9527-A373-8ECD-E322-1B1AAD71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E8720-C8C3-2119-4C08-40B325509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A1C22-303F-E56B-94DB-49AC2F1A4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7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message that ‘you don’t need a working agent to begin, define evaluations before development could potentially remove a common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0C66-9647-9823-C699-A175D2C4A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7C3E9-C342-9DC9-2284-04E6F57DE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D908-E6CD-535B-8708-16BF02C1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9AAB-7DA0-8F7D-C42F-1C8E8EB4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6073C-E00A-8B41-A092-CBB7F240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2BDA-80F4-B920-EBE1-429AE97A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FE763-F37B-8325-F026-171F77C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ADEF7-334A-5E3E-3960-56681955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D342-9BD3-CF26-1022-0667959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48188-4F9D-41CA-15E5-31CDF747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7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6D62-7786-67D4-6D0B-3BFAF046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71D4-A502-0486-7AF8-E3056ABC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93F95-B222-95AD-2239-C81C3CA1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0E80F-1CB0-635D-2129-823EAFE7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60D7-EAB3-26AB-857C-D9AD5244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9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C217-B0D3-9488-0EB9-7314084A5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18AD-5160-9798-19A9-4F65134C6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9242A-5635-EDF5-4433-340838E18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972E-D147-F2AE-2449-4FC84EAC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351F0-854D-D573-1257-F5241DD2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3F3C-B39E-BAB7-9F5F-905C909D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6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DC16-C28E-3C76-5B1D-F2CFB213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C4EF9-166D-D377-4055-139FFC314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15F7B-238F-66E5-B015-215D0ADD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10DDE-D998-9479-0FDA-46B6F33C0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D91B2-EF1C-2407-3F62-C848E9604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A3699-7D6B-55D2-4D25-A66D2606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4CED6-260F-0AC8-5F2A-4564FDFB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6DA75-5EAB-9078-6136-DB03D573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1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1AB0-B22B-8260-763F-4C94D99C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CFAB2-8924-40D4-81ED-F4A44370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F1F02-F6FB-C217-2D1F-98E79672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C81FB-CFC5-8A22-442F-18537470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6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9C4ED-CE7C-E44C-5052-5C2C30AC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21F72-0565-AEC0-3CF3-0A3E6ECA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EB77A-64F0-4EA5-ABCD-63EF649A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0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08E8-FC7E-500D-243E-163AFD82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23C0-40F6-AA6D-A09F-6DCD2BF0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90DBE-599E-A21B-47CD-C2F115822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32CFD-4C96-473E-4A36-606DA50D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6D6AF-3A10-994F-3163-1A31EBC3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71861-0B27-AF05-BB1D-CAFCAC96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7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756E-471E-2A08-8CE2-0E9C71D3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AC883-A72A-3154-CCB8-34042B260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39855-B1E1-3F76-40A8-901C4CC77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EF4EC-B3FB-5439-C8AB-826B5DAF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320C9-3855-44BD-8599-383A4A81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17095-28CD-1A75-F1DC-0AD42634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7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A313-4E6F-9FC8-C5A7-454F32CB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1BDC8-BF8A-21E3-6A34-D19F29F42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305F8-7D11-C5C2-C41F-1B692309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64C86-A50B-41AD-D807-504EF415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F5124-1CF6-C2A7-8715-258C5081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3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66D3C-85DF-7570-0D9E-C8D6E297E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0464-0C0B-CBCF-9624-036DF9EA2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5C019-6D51-8AAE-79C1-FC353F6C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17FA2-4F16-D40B-2F75-96C10E8C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AF1D5-DDE5-82E0-567B-A5F828D1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78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CE6BF-998C-EC39-6A21-8D128E00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F2889-E4A0-019F-832B-06D93106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401CE-0D5C-C359-B5B9-105E00088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22F38-2DD0-4FFF-A404-5EA8B7C454B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08683-D7F9-9005-1FDB-05E7B831E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FA9C-90A9-800B-C481-2598BBFFB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EA366-8384-48B4-A236-C6A3820F9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FDA689C3-B0B4-46B2-27CA-D7625130534F}"/>
              </a:ext>
            </a:extLst>
          </p:cNvPr>
          <p:cNvSpPr/>
          <p:nvPr/>
        </p:nvSpPr>
        <p:spPr>
          <a:xfrm>
            <a:off x="-50800" y="0"/>
            <a:ext cx="122428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10212-D623-733B-F552-4D9584B55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 Agent Evaluation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75B31-C424-26BE-4403-CA5792FBA0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Jan 2026</a:t>
            </a:r>
          </a:p>
          <a:p>
            <a:r>
              <a:rPr lang="en-US">
                <a:solidFill>
                  <a:schemeClr val="bg1"/>
                </a:solidFill>
              </a:rPr>
              <a:t>CAPE Team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69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AI Agent Evaluation?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systematic process of measuring how well your AI agent performs its intended tasks.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731520" y="2072640"/>
            <a:ext cx="5120640" cy="195072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914400" y="2255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 Testing</a:t>
            </a:r>
            <a:endParaRPr lang="en-US" sz="1867"/>
          </a:p>
        </p:txBody>
      </p:sp>
      <p:sp>
        <p:nvSpPr>
          <p:cNvPr id="7" name="Text 5"/>
          <p:cNvSpPr/>
          <p:nvPr/>
        </p:nvSpPr>
        <p:spPr>
          <a:xfrm>
            <a:off x="914400" y="2682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code run without errors?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produce expected outputs?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 results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096000" y="2072640"/>
            <a:ext cx="5364480" cy="1950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6278880" y="22555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Evaluation</a:t>
            </a:r>
            <a:endParaRPr lang="en-US" sz="1867"/>
          </a:p>
        </p:txBody>
      </p:sp>
      <p:sp>
        <p:nvSpPr>
          <p:cNvPr id="10" name="Text 8"/>
          <p:cNvSpPr/>
          <p:nvPr/>
        </p:nvSpPr>
        <p:spPr>
          <a:xfrm>
            <a:off x="6278880" y="2682240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are the outputs?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well across scenarios?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quality assessment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31520" y="4267200"/>
            <a:ext cx="10728960" cy="121920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" name="Shape 10"/>
          <p:cNvSpPr/>
          <p:nvPr/>
        </p:nvSpPr>
        <p:spPr>
          <a:xfrm>
            <a:off x="731520" y="4267200"/>
            <a:ext cx="73152" cy="1219200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975360" y="4450080"/>
            <a:ext cx="1024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quality control in manufacturing—you wouldn't ship a car without testing its brakes, and you shouldn't deploy an AI agent without thoroughly testing its responses.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731520" y="57302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ensuring your agent doesn't just work, but works well.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189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>
            <a:extLst>
              <a:ext uri="{FF2B5EF4-FFF2-40B4-BE49-F238E27FC236}">
                <a16:creationId xmlns:a16="http://schemas.microsoft.com/office/drawing/2014/main" id="{EA5BB172-2EA8-224B-EDF6-3C6C9220CF78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3" name="Text 1">
            <a:extLst>
              <a:ext uri="{FF2B5EF4-FFF2-40B4-BE49-F238E27FC236}">
                <a16:creationId xmlns:a16="http://schemas.microsoft.com/office/drawing/2014/main" id="{B1F71A97-EF9B-DFFC-232B-4DB64785FCE7}"/>
              </a:ext>
            </a:extLst>
          </p:cNvPr>
          <p:cNvSpPr/>
          <p:nvPr/>
        </p:nvSpPr>
        <p:spPr>
          <a:xfrm>
            <a:off x="609600" y="34137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Evaluation Matters</a:t>
            </a:r>
            <a:endParaRPr lang="en-US" sz="4267" dirty="0"/>
          </a:p>
        </p:txBody>
      </p:sp>
      <p:sp>
        <p:nvSpPr>
          <p:cNvPr id="125" name="Shape 3">
            <a:extLst>
              <a:ext uri="{FF2B5EF4-FFF2-40B4-BE49-F238E27FC236}">
                <a16:creationId xmlns:a16="http://schemas.microsoft.com/office/drawing/2014/main" id="{6F6CA6C8-C74A-0652-4911-532204EF1F77}"/>
              </a:ext>
            </a:extLst>
          </p:cNvPr>
          <p:cNvSpPr/>
          <p:nvPr/>
        </p:nvSpPr>
        <p:spPr>
          <a:xfrm>
            <a:off x="609600" y="1564212"/>
            <a:ext cx="5364480" cy="48768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6" name="Text 4">
            <a:extLst>
              <a:ext uri="{FF2B5EF4-FFF2-40B4-BE49-F238E27FC236}">
                <a16:creationId xmlns:a16="http://schemas.microsoft.com/office/drawing/2014/main" id="{5236FCAC-5A47-71CC-7F29-2A59865C26A7}"/>
              </a:ext>
            </a:extLst>
          </p:cNvPr>
          <p:cNvSpPr/>
          <p:nvPr/>
        </p:nvSpPr>
        <p:spPr>
          <a:xfrm>
            <a:off x="609600" y="162517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Evaluation</a:t>
            </a:r>
            <a:endParaRPr lang="en-US" sz="1867" dirty="0"/>
          </a:p>
        </p:txBody>
      </p:sp>
      <p:sp>
        <p:nvSpPr>
          <p:cNvPr id="127" name="Shape 5">
            <a:extLst>
              <a:ext uri="{FF2B5EF4-FFF2-40B4-BE49-F238E27FC236}">
                <a16:creationId xmlns:a16="http://schemas.microsoft.com/office/drawing/2014/main" id="{F5188E11-3993-4A6B-55EC-BB8F650533CC}"/>
              </a:ext>
            </a:extLst>
          </p:cNvPr>
          <p:cNvSpPr/>
          <p:nvPr/>
        </p:nvSpPr>
        <p:spPr>
          <a:xfrm>
            <a:off x="6217920" y="1564212"/>
            <a:ext cx="5364480" cy="48768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8" name="Text 6">
            <a:extLst>
              <a:ext uri="{FF2B5EF4-FFF2-40B4-BE49-F238E27FC236}">
                <a16:creationId xmlns:a16="http://schemas.microsoft.com/office/drawing/2014/main" id="{7019A855-F650-696D-340A-5F296B7437F6}"/>
              </a:ext>
            </a:extLst>
          </p:cNvPr>
          <p:cNvSpPr/>
          <p:nvPr/>
        </p:nvSpPr>
        <p:spPr>
          <a:xfrm>
            <a:off x="6217920" y="162517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Evaluation-Driven Development</a:t>
            </a:r>
            <a:endParaRPr lang="en-US" sz="1867" dirty="0"/>
          </a:p>
        </p:txBody>
      </p:sp>
      <p:sp>
        <p:nvSpPr>
          <p:cNvPr id="129" name="Shape 7">
            <a:extLst>
              <a:ext uri="{FF2B5EF4-FFF2-40B4-BE49-F238E27FC236}">
                <a16:creationId xmlns:a16="http://schemas.microsoft.com/office/drawing/2014/main" id="{D7B20C4D-65DC-3038-E3E2-FA0BF250D4DB}"/>
              </a:ext>
            </a:extLst>
          </p:cNvPr>
          <p:cNvSpPr/>
          <p:nvPr/>
        </p:nvSpPr>
        <p:spPr>
          <a:xfrm>
            <a:off x="609600" y="2173812"/>
            <a:ext cx="5364480" cy="792480"/>
          </a:xfrm>
          <a:prstGeom prst="rect">
            <a:avLst/>
          </a:prstGeom>
          <a:solidFill>
            <a:srgbClr val="FDF2F2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0" name="Text 8">
            <a:extLst>
              <a:ext uri="{FF2B5EF4-FFF2-40B4-BE49-F238E27FC236}">
                <a16:creationId xmlns:a16="http://schemas.microsoft.com/office/drawing/2014/main" id="{19139A8A-6DE5-4F26-5F3E-D3ED7DEBB989}"/>
              </a:ext>
            </a:extLst>
          </p:cNvPr>
          <p:cNvSpPr/>
          <p:nvPr/>
        </p:nvSpPr>
        <p:spPr>
          <a:xfrm>
            <a:off x="792480" y="2271348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vs. Reality Gap</a:t>
            </a:r>
            <a:endParaRPr lang="en-US" sz="1600" dirty="0"/>
          </a:p>
        </p:txBody>
      </p:sp>
      <p:sp>
        <p:nvSpPr>
          <p:cNvPr id="131" name="Text 9">
            <a:extLst>
              <a:ext uri="{FF2B5EF4-FFF2-40B4-BE49-F238E27FC236}">
                <a16:creationId xmlns:a16="http://schemas.microsoft.com/office/drawing/2014/main" id="{912AE3DB-33B6-B170-48D8-95CA4A37C057}"/>
              </a:ext>
            </a:extLst>
          </p:cNvPr>
          <p:cNvSpPr/>
          <p:nvPr/>
        </p:nvSpPr>
        <p:spPr>
          <a:xfrm>
            <a:off x="792480" y="2563956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perform well in demos but fail in real-world scenarios</a:t>
            </a:r>
            <a:endParaRPr lang="en-US" sz="1467" dirty="0"/>
          </a:p>
        </p:txBody>
      </p:sp>
      <p:sp>
        <p:nvSpPr>
          <p:cNvPr id="132" name="Text 10">
            <a:extLst>
              <a:ext uri="{FF2B5EF4-FFF2-40B4-BE49-F238E27FC236}">
                <a16:creationId xmlns:a16="http://schemas.microsoft.com/office/drawing/2014/main" id="{782B7E7E-2846-3072-B27D-8FA3A211E403}"/>
              </a:ext>
            </a:extLst>
          </p:cNvPr>
          <p:cNvSpPr/>
          <p:nvPr/>
        </p:nvSpPr>
        <p:spPr>
          <a:xfrm>
            <a:off x="6035040" y="2393268"/>
            <a:ext cx="48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33" dirty="0"/>
          </a:p>
        </p:txBody>
      </p:sp>
      <p:sp>
        <p:nvSpPr>
          <p:cNvPr id="133" name="Shape 11">
            <a:extLst>
              <a:ext uri="{FF2B5EF4-FFF2-40B4-BE49-F238E27FC236}">
                <a16:creationId xmlns:a16="http://schemas.microsoft.com/office/drawing/2014/main" id="{E23FACB7-2FBC-873E-4E8F-140A0E726D5F}"/>
              </a:ext>
            </a:extLst>
          </p:cNvPr>
          <p:cNvSpPr/>
          <p:nvPr/>
        </p:nvSpPr>
        <p:spPr>
          <a:xfrm>
            <a:off x="6217920" y="2173812"/>
            <a:ext cx="5364480" cy="792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4" name="Text 12">
            <a:extLst>
              <a:ext uri="{FF2B5EF4-FFF2-40B4-BE49-F238E27FC236}">
                <a16:creationId xmlns:a16="http://schemas.microsoft.com/office/drawing/2014/main" id="{A6282B3C-B44D-0C9A-8E3E-D910510E69D6}"/>
              </a:ext>
            </a:extLst>
          </p:cNvPr>
          <p:cNvSpPr/>
          <p:nvPr/>
        </p:nvSpPr>
        <p:spPr>
          <a:xfrm>
            <a:off x="6400800" y="2271348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Problems Early</a:t>
            </a:r>
            <a:endParaRPr lang="en-US" sz="1600" dirty="0"/>
          </a:p>
        </p:txBody>
      </p:sp>
      <p:sp>
        <p:nvSpPr>
          <p:cNvPr id="135" name="Text 13">
            <a:extLst>
              <a:ext uri="{FF2B5EF4-FFF2-40B4-BE49-F238E27FC236}">
                <a16:creationId xmlns:a16="http://schemas.microsoft.com/office/drawing/2014/main" id="{1590CDBE-3776-1CF8-B1EA-3D619488D0A1}"/>
              </a:ext>
            </a:extLst>
          </p:cNvPr>
          <p:cNvSpPr/>
          <p:nvPr/>
        </p:nvSpPr>
        <p:spPr>
          <a:xfrm>
            <a:off x="6400800" y="2563956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issues before they affect real users</a:t>
            </a:r>
            <a:endParaRPr lang="en-US" sz="1467" dirty="0"/>
          </a:p>
        </p:txBody>
      </p:sp>
      <p:sp>
        <p:nvSpPr>
          <p:cNvPr id="136" name="Shape 14">
            <a:extLst>
              <a:ext uri="{FF2B5EF4-FFF2-40B4-BE49-F238E27FC236}">
                <a16:creationId xmlns:a16="http://schemas.microsoft.com/office/drawing/2014/main" id="{602532F4-F7CB-D90D-2873-5FEF4F71D69E}"/>
              </a:ext>
            </a:extLst>
          </p:cNvPr>
          <p:cNvSpPr/>
          <p:nvPr/>
        </p:nvSpPr>
        <p:spPr>
          <a:xfrm>
            <a:off x="609600" y="3063828"/>
            <a:ext cx="5364480" cy="792480"/>
          </a:xfrm>
          <a:prstGeom prst="rect">
            <a:avLst/>
          </a:prstGeom>
          <a:solidFill>
            <a:srgbClr val="FDF2F2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C700540E-3322-0D6C-5FD9-792E1327A35F}"/>
              </a:ext>
            </a:extLst>
          </p:cNvPr>
          <p:cNvSpPr/>
          <p:nvPr/>
        </p:nvSpPr>
        <p:spPr>
          <a:xfrm>
            <a:off x="792480" y="31613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Blind Spots</a:t>
            </a:r>
            <a:endParaRPr lang="en-US" sz="1600" dirty="0"/>
          </a:p>
        </p:txBody>
      </p:sp>
      <p:sp>
        <p:nvSpPr>
          <p:cNvPr id="138" name="Text 16">
            <a:extLst>
              <a:ext uri="{FF2B5EF4-FFF2-40B4-BE49-F238E27FC236}">
                <a16:creationId xmlns:a16="http://schemas.microsoft.com/office/drawing/2014/main" id="{87BAA202-472D-E1B6-3DA1-76E504C42B6A}"/>
              </a:ext>
            </a:extLst>
          </p:cNvPr>
          <p:cNvSpPr/>
          <p:nvPr/>
        </p:nvSpPr>
        <p:spPr>
          <a:xfrm>
            <a:off x="792480" y="345397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way to identify what needs fixing</a:t>
            </a:r>
            <a:endParaRPr lang="en-US" sz="1467" dirty="0"/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9DF1FA71-F38A-DF20-B0EF-928B45688903}"/>
              </a:ext>
            </a:extLst>
          </p:cNvPr>
          <p:cNvSpPr/>
          <p:nvPr/>
        </p:nvSpPr>
        <p:spPr>
          <a:xfrm>
            <a:off x="6035040" y="3283284"/>
            <a:ext cx="48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33" dirty="0"/>
          </a:p>
        </p:txBody>
      </p:sp>
      <p:sp>
        <p:nvSpPr>
          <p:cNvPr id="140" name="Shape 18">
            <a:extLst>
              <a:ext uri="{FF2B5EF4-FFF2-40B4-BE49-F238E27FC236}">
                <a16:creationId xmlns:a16="http://schemas.microsoft.com/office/drawing/2014/main" id="{A2DA4400-2374-3CB4-BF12-F7074D14C69A}"/>
              </a:ext>
            </a:extLst>
          </p:cNvPr>
          <p:cNvSpPr/>
          <p:nvPr/>
        </p:nvSpPr>
        <p:spPr>
          <a:xfrm>
            <a:off x="6217920" y="3063828"/>
            <a:ext cx="5364480" cy="792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1" name="Text 19">
            <a:extLst>
              <a:ext uri="{FF2B5EF4-FFF2-40B4-BE49-F238E27FC236}">
                <a16:creationId xmlns:a16="http://schemas.microsoft.com/office/drawing/2014/main" id="{97FD94F1-69D7-10CB-E515-1EA3D1DC190E}"/>
              </a:ext>
            </a:extLst>
          </p:cNvPr>
          <p:cNvSpPr/>
          <p:nvPr/>
        </p:nvSpPr>
        <p:spPr>
          <a:xfrm>
            <a:off x="6400800" y="31613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Vague Feedback</a:t>
            </a:r>
            <a:endParaRPr lang="en-US" sz="1600" dirty="0"/>
          </a:p>
        </p:txBody>
      </p:sp>
      <p:sp>
        <p:nvSpPr>
          <p:cNvPr id="142" name="Text 20">
            <a:extLst>
              <a:ext uri="{FF2B5EF4-FFF2-40B4-BE49-F238E27FC236}">
                <a16:creationId xmlns:a16="http://schemas.microsoft.com/office/drawing/2014/main" id="{7875B2A8-9DEC-5FFC-16B6-440766F23492}"/>
              </a:ext>
            </a:extLst>
          </p:cNvPr>
          <p:cNvSpPr/>
          <p:nvPr/>
        </p:nvSpPr>
        <p:spPr>
          <a:xfrm>
            <a:off x="6400800" y="345397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'not good enough' into specific, actionable insights</a:t>
            </a:r>
            <a:endParaRPr lang="en-US" sz="1467" dirty="0"/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2A8AFD32-B817-3FEC-CEA3-3A11AABBFE74}"/>
              </a:ext>
            </a:extLst>
          </p:cNvPr>
          <p:cNvSpPr/>
          <p:nvPr/>
        </p:nvSpPr>
        <p:spPr>
          <a:xfrm>
            <a:off x="609600" y="3953844"/>
            <a:ext cx="5364480" cy="792480"/>
          </a:xfrm>
          <a:prstGeom prst="rect">
            <a:avLst/>
          </a:prstGeom>
          <a:solidFill>
            <a:srgbClr val="FDF2F2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4" name="Text 22">
            <a:extLst>
              <a:ext uri="{FF2B5EF4-FFF2-40B4-BE49-F238E27FC236}">
                <a16:creationId xmlns:a16="http://schemas.microsoft.com/office/drawing/2014/main" id="{D33BA701-D3A2-7C00-440B-D276D6F20B89}"/>
              </a:ext>
            </a:extLst>
          </p:cNvPr>
          <p:cNvSpPr/>
          <p:nvPr/>
        </p:nvSpPr>
        <p:spPr>
          <a:xfrm>
            <a:off x="792480" y="4051380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 on Changes</a:t>
            </a:r>
            <a:endParaRPr lang="en-US" sz="1600" dirty="0"/>
          </a:p>
        </p:txBody>
      </p:sp>
      <p:sp>
        <p:nvSpPr>
          <p:cNvPr id="145" name="Text 23">
            <a:extLst>
              <a:ext uri="{FF2B5EF4-FFF2-40B4-BE49-F238E27FC236}">
                <a16:creationId xmlns:a16="http://schemas.microsoft.com/office/drawing/2014/main" id="{0A0476C4-70D0-A542-3F55-EBFBA3A5F0AC}"/>
              </a:ext>
            </a:extLst>
          </p:cNvPr>
          <p:cNvSpPr/>
          <p:nvPr/>
        </p:nvSpPr>
        <p:spPr>
          <a:xfrm>
            <a:off x="792480" y="4343988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if model upgrades or prompt changes help</a:t>
            </a:r>
            <a:endParaRPr lang="en-US" sz="1467" dirty="0"/>
          </a:p>
        </p:txBody>
      </p:sp>
      <p:sp>
        <p:nvSpPr>
          <p:cNvPr id="146" name="Text 24">
            <a:extLst>
              <a:ext uri="{FF2B5EF4-FFF2-40B4-BE49-F238E27FC236}">
                <a16:creationId xmlns:a16="http://schemas.microsoft.com/office/drawing/2014/main" id="{3B6107D3-33ED-90A1-6733-D0E0BA3CFD8E}"/>
              </a:ext>
            </a:extLst>
          </p:cNvPr>
          <p:cNvSpPr/>
          <p:nvPr/>
        </p:nvSpPr>
        <p:spPr>
          <a:xfrm>
            <a:off x="6035040" y="4173300"/>
            <a:ext cx="48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33" dirty="0"/>
          </a:p>
        </p:txBody>
      </p:sp>
      <p:sp>
        <p:nvSpPr>
          <p:cNvPr id="147" name="Shape 25">
            <a:extLst>
              <a:ext uri="{FF2B5EF4-FFF2-40B4-BE49-F238E27FC236}">
                <a16:creationId xmlns:a16="http://schemas.microsoft.com/office/drawing/2014/main" id="{D232FBAE-FC94-02D1-4092-662C216A50B7}"/>
              </a:ext>
            </a:extLst>
          </p:cNvPr>
          <p:cNvSpPr/>
          <p:nvPr/>
        </p:nvSpPr>
        <p:spPr>
          <a:xfrm>
            <a:off x="6217920" y="3953844"/>
            <a:ext cx="5364480" cy="792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8" name="Text 26">
            <a:extLst>
              <a:ext uri="{FF2B5EF4-FFF2-40B4-BE49-F238E27FC236}">
                <a16:creationId xmlns:a16="http://schemas.microsoft.com/office/drawing/2014/main" id="{7ED86A4D-5321-2D39-9D65-3F5E092CDFE0}"/>
              </a:ext>
            </a:extLst>
          </p:cNvPr>
          <p:cNvSpPr/>
          <p:nvPr/>
        </p:nvSpPr>
        <p:spPr>
          <a:xfrm>
            <a:off x="6400800" y="4051380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Quantitatively</a:t>
            </a:r>
            <a:endParaRPr lang="en-US" sz="1600" dirty="0"/>
          </a:p>
        </p:txBody>
      </p:sp>
      <p:sp>
        <p:nvSpPr>
          <p:cNvPr id="149" name="Text 27">
            <a:extLst>
              <a:ext uri="{FF2B5EF4-FFF2-40B4-BE49-F238E27FC236}">
                <a16:creationId xmlns:a16="http://schemas.microsoft.com/office/drawing/2014/main" id="{C790A73E-74C1-2076-F1A3-A6959587007E}"/>
              </a:ext>
            </a:extLst>
          </p:cNvPr>
          <p:cNvSpPr/>
          <p:nvPr/>
        </p:nvSpPr>
        <p:spPr>
          <a:xfrm>
            <a:off x="6400800" y="4343988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impact of every change</a:t>
            </a:r>
            <a:endParaRPr lang="en-US" sz="1467" dirty="0"/>
          </a:p>
        </p:txBody>
      </p:sp>
      <p:sp>
        <p:nvSpPr>
          <p:cNvPr id="150" name="Shape 28">
            <a:extLst>
              <a:ext uri="{FF2B5EF4-FFF2-40B4-BE49-F238E27FC236}">
                <a16:creationId xmlns:a16="http://schemas.microsoft.com/office/drawing/2014/main" id="{04292452-FD19-49F2-73F3-31DF9747652E}"/>
              </a:ext>
            </a:extLst>
          </p:cNvPr>
          <p:cNvSpPr/>
          <p:nvPr/>
        </p:nvSpPr>
        <p:spPr>
          <a:xfrm>
            <a:off x="609600" y="4843860"/>
            <a:ext cx="5364480" cy="792480"/>
          </a:xfrm>
          <a:prstGeom prst="rect">
            <a:avLst/>
          </a:prstGeom>
          <a:solidFill>
            <a:srgbClr val="FDF2F2"/>
          </a:solidFill>
          <a:ln w="12700">
            <a:solidFill>
              <a:srgbClr val="FADB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1" name="Text 29">
            <a:extLst>
              <a:ext uri="{FF2B5EF4-FFF2-40B4-BE49-F238E27FC236}">
                <a16:creationId xmlns:a16="http://schemas.microsoft.com/office/drawing/2014/main" id="{B64BC657-26D6-6868-AB0C-8591C853370B}"/>
              </a:ext>
            </a:extLst>
          </p:cNvPr>
          <p:cNvSpPr/>
          <p:nvPr/>
        </p:nvSpPr>
        <p:spPr>
          <a:xfrm>
            <a:off x="792480" y="4941396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Late Fixes</a:t>
            </a:r>
            <a:endParaRPr lang="en-US" sz="1600" dirty="0"/>
          </a:p>
        </p:txBody>
      </p:sp>
      <p:sp>
        <p:nvSpPr>
          <p:cNvPr id="152" name="Text 30">
            <a:extLst>
              <a:ext uri="{FF2B5EF4-FFF2-40B4-BE49-F238E27FC236}">
                <a16:creationId xmlns:a16="http://schemas.microsoft.com/office/drawing/2014/main" id="{E0E0FE10-BCDB-A3B5-1175-309DDD7006FD}"/>
              </a:ext>
            </a:extLst>
          </p:cNvPr>
          <p:cNvSpPr/>
          <p:nvPr/>
        </p:nvSpPr>
        <p:spPr>
          <a:xfrm>
            <a:off x="792480" y="5234004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discovered after deployment damage trust</a:t>
            </a:r>
            <a:endParaRPr lang="en-US" sz="1467" dirty="0"/>
          </a:p>
        </p:txBody>
      </p:sp>
      <p:sp>
        <p:nvSpPr>
          <p:cNvPr id="153" name="Text 31">
            <a:extLst>
              <a:ext uri="{FF2B5EF4-FFF2-40B4-BE49-F238E27FC236}">
                <a16:creationId xmlns:a16="http://schemas.microsoft.com/office/drawing/2014/main" id="{61182088-102B-3EF8-762D-9C3A82157436}"/>
              </a:ext>
            </a:extLst>
          </p:cNvPr>
          <p:cNvSpPr/>
          <p:nvPr/>
        </p:nvSpPr>
        <p:spPr>
          <a:xfrm>
            <a:off x="6035040" y="5063316"/>
            <a:ext cx="48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33" dirty="0"/>
          </a:p>
        </p:txBody>
      </p:sp>
      <p:sp>
        <p:nvSpPr>
          <p:cNvPr id="154" name="Shape 32">
            <a:extLst>
              <a:ext uri="{FF2B5EF4-FFF2-40B4-BE49-F238E27FC236}">
                <a16:creationId xmlns:a16="http://schemas.microsoft.com/office/drawing/2014/main" id="{D874D701-1075-5802-594C-54BB384DE7A9}"/>
              </a:ext>
            </a:extLst>
          </p:cNvPr>
          <p:cNvSpPr/>
          <p:nvPr/>
        </p:nvSpPr>
        <p:spPr>
          <a:xfrm>
            <a:off x="6217920" y="4843860"/>
            <a:ext cx="5364480" cy="792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5" name="Text 33">
            <a:extLst>
              <a:ext uri="{FF2B5EF4-FFF2-40B4-BE49-F238E27FC236}">
                <a16:creationId xmlns:a16="http://schemas.microsoft.com/office/drawing/2014/main" id="{F2F1DF05-545E-E7F6-840E-1697D8951A1E}"/>
              </a:ext>
            </a:extLst>
          </p:cNvPr>
          <p:cNvSpPr/>
          <p:nvPr/>
        </p:nvSpPr>
        <p:spPr>
          <a:xfrm>
            <a:off x="6400800" y="4941396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Iteration</a:t>
            </a:r>
            <a:endParaRPr lang="en-US" sz="1600" dirty="0"/>
          </a:p>
        </p:txBody>
      </p:sp>
      <p:sp>
        <p:nvSpPr>
          <p:cNvPr id="156" name="Text 34">
            <a:extLst>
              <a:ext uri="{FF2B5EF4-FFF2-40B4-BE49-F238E27FC236}">
                <a16:creationId xmlns:a16="http://schemas.microsoft.com/office/drawing/2014/main" id="{F4BE850B-E910-39A3-6BDA-FDE76C5629A9}"/>
              </a:ext>
            </a:extLst>
          </p:cNvPr>
          <p:cNvSpPr/>
          <p:nvPr/>
        </p:nvSpPr>
        <p:spPr>
          <a:xfrm>
            <a:off x="6400800" y="5234004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without breaking things</a:t>
            </a:r>
            <a:endParaRPr lang="en-US" sz="1467" dirty="0"/>
          </a:p>
        </p:txBody>
      </p:sp>
      <p:sp>
        <p:nvSpPr>
          <p:cNvPr id="157" name="Shape 35">
            <a:extLst>
              <a:ext uri="{FF2B5EF4-FFF2-40B4-BE49-F238E27FC236}">
                <a16:creationId xmlns:a16="http://schemas.microsoft.com/office/drawing/2014/main" id="{5C498725-3FD9-FC8B-1D27-3F76D5C65777}"/>
              </a:ext>
            </a:extLst>
          </p:cNvPr>
          <p:cNvSpPr/>
          <p:nvPr/>
        </p:nvSpPr>
        <p:spPr>
          <a:xfrm>
            <a:off x="609600" y="5941397"/>
            <a:ext cx="10972800" cy="609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8" name="Text 36">
            <a:extLst>
              <a:ext uri="{FF2B5EF4-FFF2-40B4-BE49-F238E27FC236}">
                <a16:creationId xmlns:a16="http://schemas.microsoft.com/office/drawing/2014/main" id="{9FA90A37-99A8-4574-CA4B-C9123AC8E531}"/>
              </a:ext>
            </a:extLst>
          </p:cNvPr>
          <p:cNvSpPr/>
          <p:nvPr/>
        </p:nvSpPr>
        <p:spPr>
          <a:xfrm>
            <a:off x="853440" y="6038933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hoping your agent works to knowing it works.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64602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Prerequisites: Before You Start Evaluating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670560" y="2524549"/>
            <a:ext cx="609600" cy="60960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670560" y="2585509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463040" y="2524549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951269"/>
            <a:ext cx="987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tasks should the agent accomplish? What does success look like from user and business perspectives?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70560" y="3804709"/>
            <a:ext cx="609600" cy="60960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670560" y="3865669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463040" y="3804709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463040" y="4231429"/>
            <a:ext cx="987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agent handle? What should it gracefully decline? What's entirely out of scope?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70560" y="5084869"/>
            <a:ext cx="609600" cy="60960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670560" y="5145829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463040" y="5084869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Scenarios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1463040" y="5511589"/>
            <a:ext cx="987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essential situations and use cases that define what the agent needs to do? Be specific.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731520" y="1383819"/>
            <a:ext cx="10728960" cy="91440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Shape 16"/>
          <p:cNvSpPr/>
          <p:nvPr/>
        </p:nvSpPr>
        <p:spPr>
          <a:xfrm>
            <a:off x="731520" y="1366309"/>
            <a:ext cx="73152" cy="914400"/>
          </a:xfrm>
          <a:prstGeom prst="rect">
            <a:avLst/>
          </a:prstGeom>
          <a:solidFill>
            <a:srgbClr val="7A2048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975360" y="1610149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designing evaluations, establish a clear foundation:</a:t>
            </a:r>
          </a:p>
        </p:txBody>
      </p:sp>
    </p:spTree>
    <p:extLst>
      <p:ext uri="{BB962C8B-B14F-4D97-AF65-F5344CB8AC3E}">
        <p14:creationId xmlns:p14="http://schemas.microsoft.com/office/powerpoint/2010/main" val="1124746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EDAF-E988-81E7-271D-33C59EEE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D4CD3D-E76F-2440-30FD-33DD3630E667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05560F-B7F4-9309-3D97-10E32166E545}"/>
              </a:ext>
            </a:extLst>
          </p:cNvPr>
          <p:cNvSpPr/>
          <p:nvPr/>
        </p:nvSpPr>
        <p:spPr>
          <a:xfrm>
            <a:off x="731520" y="243840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Four-Stage Framework for Agent Evaluation</a:t>
            </a:r>
            <a:endParaRPr lang="en-US" sz="3467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DA279D-D6AD-5CFA-1646-734EA33C0A0F}"/>
              </a:ext>
            </a:extLst>
          </p:cNvPr>
          <p:cNvSpPr/>
          <p:nvPr/>
        </p:nvSpPr>
        <p:spPr>
          <a:xfrm>
            <a:off x="487680" y="2078736"/>
            <a:ext cx="2560320" cy="231648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203B98-EEEB-6952-D220-FDCD5E137052}"/>
              </a:ext>
            </a:extLst>
          </p:cNvPr>
          <p:cNvSpPr/>
          <p:nvPr/>
        </p:nvSpPr>
        <p:spPr>
          <a:xfrm>
            <a:off x="487680" y="4309872"/>
            <a:ext cx="2560320" cy="8534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FCCFC5-C493-F943-7AB8-B5A4C1587C94}"/>
              </a:ext>
            </a:extLst>
          </p:cNvPr>
          <p:cNvSpPr/>
          <p:nvPr/>
        </p:nvSpPr>
        <p:spPr>
          <a:xfrm>
            <a:off x="1402080" y="226161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9E2C7C-ADE0-DB92-F90D-A403C40713B9}"/>
              </a:ext>
            </a:extLst>
          </p:cNvPr>
          <p:cNvSpPr/>
          <p:nvPr/>
        </p:nvSpPr>
        <p:spPr>
          <a:xfrm>
            <a:off x="1402080" y="232257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67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DE8CF4-8827-57C6-F062-F71C95F01074}"/>
              </a:ext>
            </a:extLst>
          </p:cNvPr>
          <p:cNvSpPr/>
          <p:nvPr/>
        </p:nvSpPr>
        <p:spPr>
          <a:xfrm>
            <a:off x="609600" y="3115056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279FA8-1DC3-6BEC-AA22-AF37E8C6C251}"/>
              </a:ext>
            </a:extLst>
          </p:cNvPr>
          <p:cNvSpPr/>
          <p:nvPr/>
        </p:nvSpPr>
        <p:spPr>
          <a:xfrm>
            <a:off x="688697" y="3602736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 cases for key scenarios </a:t>
            </a:r>
            <a:endParaRPr lang="en-US" sz="1333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AC2227-D502-AF32-7E37-599949CA2B08}"/>
              </a:ext>
            </a:extLst>
          </p:cNvPr>
          <p:cNvSpPr/>
          <p:nvPr/>
        </p:nvSpPr>
        <p:spPr>
          <a:xfrm>
            <a:off x="2987040" y="2871216"/>
            <a:ext cx="42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67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16688F5-8064-03E4-7450-0EEC2D9C013F}"/>
              </a:ext>
            </a:extLst>
          </p:cNvPr>
          <p:cNvSpPr/>
          <p:nvPr/>
        </p:nvSpPr>
        <p:spPr>
          <a:xfrm>
            <a:off x="3413760" y="2078736"/>
            <a:ext cx="2560320" cy="231648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A01039D-D6CF-2AAC-3662-A8AF5DD93E35}"/>
              </a:ext>
            </a:extLst>
          </p:cNvPr>
          <p:cNvSpPr/>
          <p:nvPr/>
        </p:nvSpPr>
        <p:spPr>
          <a:xfrm>
            <a:off x="3413760" y="4309872"/>
            <a:ext cx="256032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9E818EB-8142-B2CF-8881-A92545C6DAB4}"/>
              </a:ext>
            </a:extLst>
          </p:cNvPr>
          <p:cNvSpPr/>
          <p:nvPr/>
        </p:nvSpPr>
        <p:spPr>
          <a:xfrm>
            <a:off x="4328160" y="2261616"/>
            <a:ext cx="731520" cy="73152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498275-7611-FC2A-B9E6-0642769F9CAC}"/>
              </a:ext>
            </a:extLst>
          </p:cNvPr>
          <p:cNvSpPr/>
          <p:nvPr/>
        </p:nvSpPr>
        <p:spPr>
          <a:xfrm>
            <a:off x="4328160" y="232257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67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9CA3BB7-227D-0B36-A72B-25080555650A}"/>
              </a:ext>
            </a:extLst>
          </p:cNvPr>
          <p:cNvSpPr/>
          <p:nvPr/>
        </p:nvSpPr>
        <p:spPr>
          <a:xfrm>
            <a:off x="3535680" y="3115056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CC01E36-C8D0-297B-1B9D-2F136A22481B}"/>
              </a:ext>
            </a:extLst>
          </p:cNvPr>
          <p:cNvSpPr/>
          <p:nvPr/>
        </p:nvSpPr>
        <p:spPr>
          <a:xfrm>
            <a:off x="3535680" y="3602736"/>
            <a:ext cx="2316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evals, identify gaps, iterate until targets met</a:t>
            </a:r>
            <a:endParaRPr lang="en-US" sz="1333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45E4BF6-6641-C78B-885F-AFD8DEFA4432}"/>
              </a:ext>
            </a:extLst>
          </p:cNvPr>
          <p:cNvSpPr/>
          <p:nvPr/>
        </p:nvSpPr>
        <p:spPr>
          <a:xfrm>
            <a:off x="5913120" y="2871216"/>
            <a:ext cx="42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67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64BDC7-D517-86DD-DE27-E3A944E24E86}"/>
              </a:ext>
            </a:extLst>
          </p:cNvPr>
          <p:cNvSpPr/>
          <p:nvPr/>
        </p:nvSpPr>
        <p:spPr>
          <a:xfrm>
            <a:off x="6339840" y="2078736"/>
            <a:ext cx="2560320" cy="231648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BC59B29-79C4-F6EA-C198-1B81BAB1DD25}"/>
              </a:ext>
            </a:extLst>
          </p:cNvPr>
          <p:cNvSpPr/>
          <p:nvPr/>
        </p:nvSpPr>
        <p:spPr>
          <a:xfrm>
            <a:off x="6339840" y="4309872"/>
            <a:ext cx="2560320" cy="8534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A5583FA-D12B-8066-9D7B-D61B5ED42519}"/>
              </a:ext>
            </a:extLst>
          </p:cNvPr>
          <p:cNvSpPr/>
          <p:nvPr/>
        </p:nvSpPr>
        <p:spPr>
          <a:xfrm>
            <a:off x="7254240" y="226161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347C009-73CA-344C-48F5-5F0A5C15982D}"/>
              </a:ext>
            </a:extLst>
          </p:cNvPr>
          <p:cNvSpPr/>
          <p:nvPr/>
        </p:nvSpPr>
        <p:spPr>
          <a:xfrm>
            <a:off x="7254240" y="232257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67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DBBC645-20C5-86B0-8D33-543CDDB324E6}"/>
              </a:ext>
            </a:extLst>
          </p:cNvPr>
          <p:cNvSpPr/>
          <p:nvPr/>
        </p:nvSpPr>
        <p:spPr>
          <a:xfrm>
            <a:off x="6461760" y="3115056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B33F984-5BCA-FCEE-F0C9-1AD41B24BD31}"/>
              </a:ext>
            </a:extLst>
          </p:cNvPr>
          <p:cNvSpPr/>
          <p:nvPr/>
        </p:nvSpPr>
        <p:spPr>
          <a:xfrm>
            <a:off x="6431280" y="3623947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comprehensive coverage systematically</a:t>
            </a:r>
            <a:endParaRPr lang="en-US" sz="1333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0ACD96C-BAE6-63FF-F333-3D7A02AE2FF3}"/>
              </a:ext>
            </a:extLst>
          </p:cNvPr>
          <p:cNvSpPr/>
          <p:nvPr/>
        </p:nvSpPr>
        <p:spPr>
          <a:xfrm>
            <a:off x="8839200" y="2871216"/>
            <a:ext cx="42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67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02B80C8-3F10-C6F9-9028-E7ED8966ECB9}"/>
              </a:ext>
            </a:extLst>
          </p:cNvPr>
          <p:cNvSpPr/>
          <p:nvPr/>
        </p:nvSpPr>
        <p:spPr>
          <a:xfrm>
            <a:off x="9265920" y="2078736"/>
            <a:ext cx="2560320" cy="231648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0BDA84A-C54B-7BF0-E677-B982AD727C3B}"/>
              </a:ext>
            </a:extLst>
          </p:cNvPr>
          <p:cNvSpPr/>
          <p:nvPr/>
        </p:nvSpPr>
        <p:spPr>
          <a:xfrm>
            <a:off x="9265920" y="4309872"/>
            <a:ext cx="256032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FFF4F6E-5EEB-A424-A105-9428691D889B}"/>
              </a:ext>
            </a:extLst>
          </p:cNvPr>
          <p:cNvSpPr/>
          <p:nvPr/>
        </p:nvSpPr>
        <p:spPr>
          <a:xfrm>
            <a:off x="10180320" y="2261616"/>
            <a:ext cx="731520" cy="73152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F3210DF-2D58-C070-6B79-B51426301497}"/>
              </a:ext>
            </a:extLst>
          </p:cNvPr>
          <p:cNvSpPr/>
          <p:nvPr/>
        </p:nvSpPr>
        <p:spPr>
          <a:xfrm>
            <a:off x="10180320" y="232257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67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65D09E-1697-F058-658A-01C1F9501286}"/>
              </a:ext>
            </a:extLst>
          </p:cNvPr>
          <p:cNvSpPr/>
          <p:nvPr/>
        </p:nvSpPr>
        <p:spPr>
          <a:xfrm>
            <a:off x="9387840" y="3115056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Operationalize</a:t>
            </a:r>
            <a:endParaRPr lang="en-US" sz="20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9E6472B-3496-2B0A-4331-FB6E708AD00C}"/>
              </a:ext>
            </a:extLst>
          </p:cNvPr>
          <p:cNvSpPr/>
          <p:nvPr/>
        </p:nvSpPr>
        <p:spPr>
          <a:xfrm>
            <a:off x="9387840" y="3602736"/>
            <a:ext cx="2316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for continuous quality tracking</a:t>
            </a:r>
            <a:endParaRPr lang="en-US" sz="1333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0BE2AF6-E6E9-DBA5-A9FD-0EEDD5BD570A}"/>
              </a:ext>
            </a:extLst>
          </p:cNvPr>
          <p:cNvSpPr/>
          <p:nvPr/>
        </p:nvSpPr>
        <p:spPr>
          <a:xfrm>
            <a:off x="762000" y="5187696"/>
            <a:ext cx="10728960" cy="79248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2F5D4C30-0397-0D56-6315-FE5E9BA9E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70576"/>
            <a:ext cx="487680" cy="487680"/>
          </a:xfrm>
          <a:prstGeom prst="rect">
            <a:avLst/>
          </a:prstGeom>
        </p:spPr>
      </p:pic>
      <p:sp>
        <p:nvSpPr>
          <p:cNvPr id="34" name="Text 31">
            <a:extLst>
              <a:ext uri="{FF2B5EF4-FFF2-40B4-BE49-F238E27FC236}">
                <a16:creationId xmlns:a16="http://schemas.microsoft.com/office/drawing/2014/main" id="{1E65C4A8-6BC6-B10F-58C8-B9EAE7ABC44C}"/>
              </a:ext>
            </a:extLst>
          </p:cNvPr>
          <p:cNvSpPr/>
          <p:nvPr/>
        </p:nvSpPr>
        <p:spPr>
          <a:xfrm>
            <a:off x="1615440" y="5431536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linear—expect to revisit earlier stages as you learn.</a:t>
            </a:r>
            <a:endParaRPr lang="en-US" sz="1733"/>
          </a:p>
        </p:txBody>
      </p:sp>
    </p:spTree>
    <p:extLst>
      <p:ext uri="{BB962C8B-B14F-4D97-AF65-F5344CB8AC3E}">
        <p14:creationId xmlns:p14="http://schemas.microsoft.com/office/powerpoint/2010/main" val="150072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7E0C66-4EE2-074B-08A3-2464CB8DC09C}"/>
              </a:ext>
            </a:extLst>
          </p:cNvPr>
          <p:cNvSpPr/>
          <p:nvPr/>
        </p:nvSpPr>
        <p:spPr>
          <a:xfrm>
            <a:off x="0" y="-14484"/>
            <a:ext cx="12192000" cy="103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3366B7-CFCA-8397-0256-9D07DCC35466}"/>
              </a:ext>
            </a:extLst>
          </p:cNvPr>
          <p:cNvSpPr/>
          <p:nvPr/>
        </p:nvSpPr>
        <p:spPr>
          <a:xfrm>
            <a:off x="609600" y="2059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Build Your Core Evaluation Set</a:t>
            </a:r>
            <a:endParaRPr lang="en-US" sz="3467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2DFF48-A69E-D1F6-6F3F-06099DF5772D}"/>
              </a:ext>
            </a:extLst>
          </p:cNvPr>
          <p:cNvSpPr/>
          <p:nvPr/>
        </p:nvSpPr>
        <p:spPr>
          <a:xfrm>
            <a:off x="609600" y="1217312"/>
            <a:ext cx="5120640" cy="103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1372B2-473D-0D0C-628D-2D38FCA9A806}"/>
              </a:ext>
            </a:extLst>
          </p:cNvPr>
          <p:cNvSpPr/>
          <p:nvPr/>
        </p:nvSpPr>
        <p:spPr>
          <a:xfrm>
            <a:off x="792480" y="136361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Signals</a:t>
            </a:r>
            <a:endParaRPr lang="en-US" sz="2133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A0B3DE-2033-089A-0858-45662B81ED06}"/>
              </a:ext>
            </a:extLst>
          </p:cNvPr>
          <p:cNvSpPr/>
          <p:nvPr/>
        </p:nvSpPr>
        <p:spPr>
          <a:xfrm>
            <a:off x="792480" y="1765952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'quality' mean for this agent?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89E841-ABCD-52D5-1884-9353989DC3FA}"/>
              </a:ext>
            </a:extLst>
          </p:cNvPr>
          <p:cNvSpPr/>
          <p:nvPr/>
        </p:nvSpPr>
        <p:spPr>
          <a:xfrm>
            <a:off x="5913120" y="155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</a:t>
            </a:r>
            <a:endParaRPr lang="en-US" sz="1333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28A23C-36C5-4E15-78B0-1970A1301777}"/>
              </a:ext>
            </a:extLst>
          </p:cNvPr>
          <p:cNvSpPr/>
          <p:nvPr/>
        </p:nvSpPr>
        <p:spPr>
          <a:xfrm>
            <a:off x="2987040" y="2192672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33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50B36F-EEAC-577F-311C-F0DDE515FFB2}"/>
              </a:ext>
            </a:extLst>
          </p:cNvPr>
          <p:cNvSpPr/>
          <p:nvPr/>
        </p:nvSpPr>
        <p:spPr>
          <a:xfrm>
            <a:off x="609600" y="2375552"/>
            <a:ext cx="5120640" cy="1036320"/>
          </a:xfrm>
          <a:prstGeom prst="rect">
            <a:avLst/>
          </a:prstGeom>
          <a:solidFill>
            <a:srgbClr val="2E4A87"/>
          </a:solidFill>
          <a:ln w="12700">
            <a:solidFill>
              <a:srgbClr val="2E4A87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9568F0-90E6-B2C3-FDE4-CF2F5659F26C}"/>
              </a:ext>
            </a:extLst>
          </p:cNvPr>
          <p:cNvSpPr/>
          <p:nvPr/>
        </p:nvSpPr>
        <p:spPr>
          <a:xfrm>
            <a:off x="792480" y="252185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Scenarios</a:t>
            </a:r>
            <a:endParaRPr lang="en-US" sz="2133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C721EB-335D-AE7C-9CE2-6C43C7254647}"/>
              </a:ext>
            </a:extLst>
          </p:cNvPr>
          <p:cNvSpPr/>
          <p:nvPr/>
        </p:nvSpPr>
        <p:spPr>
          <a:xfrm>
            <a:off x="792480" y="2924192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situations must it handle well?</a:t>
            </a:r>
            <a:endParaRPr lang="en-US"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ACBB6AD-70FF-24B5-5DA4-A41FEB824CED}"/>
              </a:ext>
            </a:extLst>
          </p:cNvPr>
          <p:cNvSpPr/>
          <p:nvPr/>
        </p:nvSpPr>
        <p:spPr>
          <a:xfrm>
            <a:off x="5913120" y="2716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>
                <a:latin typeface="Calibri" pitchFamily="34" charset="0"/>
                <a:ea typeface="Calibri" pitchFamily="34" charset="-122"/>
                <a:cs typeface="Calibri" pitchFamily="34" charset="-120"/>
              </a:rPr>
              <a:t>Use-case level</a:t>
            </a:r>
            <a:endParaRPr lang="en-US" sz="1333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D89E37-2C8B-C94E-76D6-DE65B2545535}"/>
              </a:ext>
            </a:extLst>
          </p:cNvPr>
          <p:cNvSpPr/>
          <p:nvPr/>
        </p:nvSpPr>
        <p:spPr>
          <a:xfrm>
            <a:off x="2987040" y="3350912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33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7070CF6-C5A1-BAF6-DBAD-634889F1A2A4}"/>
              </a:ext>
            </a:extLst>
          </p:cNvPr>
          <p:cNvSpPr/>
          <p:nvPr/>
        </p:nvSpPr>
        <p:spPr>
          <a:xfrm>
            <a:off x="609600" y="3533792"/>
            <a:ext cx="5120640" cy="1036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81F45DE-9230-9DF1-FAEE-E4E680666C48}"/>
              </a:ext>
            </a:extLst>
          </p:cNvPr>
          <p:cNvSpPr/>
          <p:nvPr/>
        </p:nvSpPr>
        <p:spPr>
          <a:xfrm>
            <a:off x="792480" y="368009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2133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FABE8E-6765-B53F-43C1-B8B78B0CFA8C}"/>
              </a:ext>
            </a:extLst>
          </p:cNvPr>
          <p:cNvSpPr/>
          <p:nvPr/>
        </p:nvSpPr>
        <p:spPr>
          <a:xfrm>
            <a:off x="792480" y="4082432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user input</a:t>
            </a:r>
            <a:endParaRPr lang="en-US"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1959F14-C557-6505-BBAC-A4B8FC3586F8}"/>
              </a:ext>
            </a:extLst>
          </p:cNvPr>
          <p:cNvSpPr/>
          <p:nvPr/>
        </p:nvSpPr>
        <p:spPr>
          <a:xfrm>
            <a:off x="5913120" y="3875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i="1">
                <a:latin typeface="Calibri"/>
                <a:ea typeface="Calibri"/>
                <a:cs typeface="Calibri"/>
              </a:rPr>
              <a:t>Individual Prompt level</a:t>
            </a:r>
            <a:endParaRPr lang="en-US" sz="1333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EFE06D0-A7D0-C8FF-3DB7-6A2347F56637}"/>
              </a:ext>
            </a:extLst>
          </p:cNvPr>
          <p:cNvSpPr/>
          <p:nvPr/>
        </p:nvSpPr>
        <p:spPr>
          <a:xfrm>
            <a:off x="2987040" y="4509152"/>
            <a:ext cx="36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33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CDE4D50-5D6A-9454-0081-545204D05626}"/>
              </a:ext>
            </a:extLst>
          </p:cNvPr>
          <p:cNvSpPr/>
          <p:nvPr/>
        </p:nvSpPr>
        <p:spPr>
          <a:xfrm>
            <a:off x="609600" y="4692032"/>
            <a:ext cx="5120640" cy="1036320"/>
          </a:xfrm>
          <a:prstGeom prst="rect">
            <a:avLst/>
          </a:prstGeom>
          <a:solidFill>
            <a:srgbClr val="6B9BD2"/>
          </a:solidFill>
          <a:ln w="12700">
            <a:solidFill>
              <a:srgbClr val="6B9BD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1CD4568-AF67-E0F0-E9DD-117F24B7525B}"/>
              </a:ext>
            </a:extLst>
          </p:cNvPr>
          <p:cNvSpPr/>
          <p:nvPr/>
        </p:nvSpPr>
        <p:spPr>
          <a:xfrm>
            <a:off x="792480" y="483833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2133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FA5E65A-47D1-6109-F7FC-E0CD554D0DCA}"/>
              </a:ext>
            </a:extLst>
          </p:cNvPr>
          <p:cNvSpPr/>
          <p:nvPr/>
        </p:nvSpPr>
        <p:spPr>
          <a:xfrm>
            <a:off x="792480" y="5240672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response good?</a:t>
            </a:r>
            <a:endParaRPr lang="en-US"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32F9B90-2B1B-0A00-8D15-1B5CBE262425}"/>
              </a:ext>
            </a:extLst>
          </p:cNvPr>
          <p:cNvSpPr/>
          <p:nvPr/>
        </p:nvSpPr>
        <p:spPr>
          <a:xfrm>
            <a:off x="5913120" y="5033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i="1">
                <a:latin typeface="Calibri"/>
                <a:ea typeface="Calibri"/>
                <a:cs typeface="Calibri"/>
              </a:rPr>
              <a:t>Individual Prompt level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6D2BA35-B4F9-2524-CCB7-9EF80F458D17}"/>
              </a:ext>
            </a:extLst>
          </p:cNvPr>
          <p:cNvSpPr/>
          <p:nvPr/>
        </p:nvSpPr>
        <p:spPr>
          <a:xfrm>
            <a:off x="7193280" y="1217312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Example: HR Assistant</a:t>
            </a:r>
            <a:endParaRPr lang="en-US" sz="1867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FF06DC-21E2-43D4-0807-A9D478F7CDFA}"/>
              </a:ext>
            </a:extLst>
          </p:cNvPr>
          <p:cNvSpPr/>
          <p:nvPr/>
        </p:nvSpPr>
        <p:spPr>
          <a:xfrm>
            <a:off x="7193280" y="1704992"/>
            <a:ext cx="4632960" cy="408432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198A646-ED89-3EF8-40D9-63EE49E79796}"/>
              </a:ext>
            </a:extLst>
          </p:cNvPr>
          <p:cNvSpPr/>
          <p:nvPr/>
        </p:nvSpPr>
        <p:spPr>
          <a:xfrm>
            <a:off x="7376160" y="179033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Signal:</a:t>
            </a:r>
            <a:endParaRPr lang="en-US" sz="1467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42F3FF6-27E9-C30D-41C5-7899F955CFF4}"/>
              </a:ext>
            </a:extLst>
          </p:cNvPr>
          <p:cNvSpPr/>
          <p:nvPr/>
        </p:nvSpPr>
        <p:spPr>
          <a:xfrm>
            <a:off x="7376160" y="205856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latin typeface="Calibri" pitchFamily="34" charset="0"/>
                <a:ea typeface="Calibri" pitchFamily="34" charset="-122"/>
                <a:cs typeface="Calibri" pitchFamily="34" charset="-120"/>
              </a:rPr>
              <a:t>Policy Accuracy</a:t>
            </a:r>
            <a:endParaRPr lang="en-US" sz="1733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A18B5DA-FF5A-61BC-2C3D-2224B375CA0F}"/>
              </a:ext>
            </a:extLst>
          </p:cNvPr>
          <p:cNvSpPr/>
          <p:nvPr/>
        </p:nvSpPr>
        <p:spPr>
          <a:xfrm>
            <a:off x="7376160" y="274131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Scenario:</a:t>
            </a:r>
            <a:endParaRPr lang="en-US" sz="1467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BDF5E5D-F1B8-1A60-48F9-A9D540923C2B}"/>
              </a:ext>
            </a:extLst>
          </p:cNvPr>
          <p:cNvSpPr/>
          <p:nvPr/>
        </p:nvSpPr>
        <p:spPr>
          <a:xfrm>
            <a:off x="7376160" y="3009536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latin typeface="Calibri" pitchFamily="34" charset="0"/>
                <a:ea typeface="Calibri" pitchFamily="34" charset="-122"/>
                <a:cs typeface="Calibri" pitchFamily="34" charset="-120"/>
              </a:rPr>
              <a:t>Answer HR policy questions</a:t>
            </a:r>
            <a:endParaRPr lang="en-US" sz="1733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4B0AABA-6E92-CF73-1432-38F6F5E1089E}"/>
              </a:ext>
            </a:extLst>
          </p:cNvPr>
          <p:cNvSpPr/>
          <p:nvPr/>
        </p:nvSpPr>
        <p:spPr>
          <a:xfrm>
            <a:off x="7376160" y="359475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latin typeface="Calibri" pitchFamily="34" charset="0"/>
                <a:ea typeface="Calibri" pitchFamily="34" charset="-122"/>
                <a:cs typeface="Calibri" pitchFamily="34" charset="-120"/>
              </a:rPr>
              <a:t>Test Case:</a:t>
            </a:r>
            <a:endParaRPr lang="en-US" sz="1467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92064E4-EB7E-3E43-27C0-05067B876C94}"/>
              </a:ext>
            </a:extLst>
          </p:cNvPr>
          <p:cNvSpPr/>
          <p:nvPr/>
        </p:nvSpPr>
        <p:spPr>
          <a:xfrm>
            <a:off x="7376160" y="3862976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PTO days do I get?"</a:t>
            </a:r>
            <a:endParaRPr lang="en-US" sz="1733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CA8D19D-C7C3-C4F6-C6F2-DEB7CCFF36CB}"/>
              </a:ext>
            </a:extLst>
          </p:cNvPr>
          <p:cNvSpPr/>
          <p:nvPr/>
        </p:nvSpPr>
        <p:spPr>
          <a:xfrm>
            <a:off x="7376160" y="444819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</a:t>
            </a:r>
            <a:endParaRPr lang="en-US" sz="1467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86F909D-5625-C9EB-262A-D6373B3A9BE8}"/>
              </a:ext>
            </a:extLst>
          </p:cNvPr>
          <p:cNvSpPr/>
          <p:nvPr/>
        </p:nvSpPr>
        <p:spPr>
          <a:xfrm>
            <a:off x="7376160" y="475299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correct PTO balance</a:t>
            </a:r>
            <a:endParaRPr lang="en-US"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4CF1CEB-4E05-4A54-2C36-9188F0594C60}"/>
              </a:ext>
            </a:extLst>
          </p:cNvPr>
          <p:cNvSpPr/>
          <p:nvPr/>
        </p:nvSpPr>
        <p:spPr>
          <a:xfrm>
            <a:off x="7376160" y="5094368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• Cites policy document</a:t>
            </a:r>
            <a:endParaRPr lang="en-US"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4527F4F-ECF0-848F-E810-79B2CA082A54}"/>
              </a:ext>
            </a:extLst>
          </p:cNvPr>
          <p:cNvSpPr/>
          <p:nvPr/>
        </p:nvSpPr>
        <p:spPr>
          <a:xfrm>
            <a:off x="7376160" y="543574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link to full policy</a:t>
            </a:r>
            <a:endParaRPr lang="en-US"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67640A9-C8BA-5202-B07A-6FF9B30E386C}"/>
              </a:ext>
            </a:extLst>
          </p:cNvPr>
          <p:cNvSpPr/>
          <p:nvPr/>
        </p:nvSpPr>
        <p:spPr>
          <a:xfrm>
            <a:off x="609600" y="5951032"/>
            <a:ext cx="10972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BA7A3B7-E01E-C964-846A-5A7E7CFB83D8}"/>
              </a:ext>
            </a:extLst>
          </p:cNvPr>
          <p:cNvSpPr/>
          <p:nvPr/>
        </p:nvSpPr>
        <p:spPr>
          <a:xfrm>
            <a:off x="853440" y="6036376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Key Scenarios → work up to discover signals, work down to create test cases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54958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Build Your Core Evaluation Set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latin typeface="Calibri" pitchFamily="34" charset="0"/>
                <a:ea typeface="Calibri" pitchFamily="34" charset="-122"/>
                <a:cs typeface="Calibri" pitchFamily="34" charset="-120"/>
              </a:rPr>
              <a:t>Translate key scenarios into concrete, testable components.</a:t>
            </a:r>
            <a:endParaRPr lang="en-US" sz="1867"/>
          </a:p>
        </p:txBody>
      </p:sp>
      <p:sp>
        <p:nvSpPr>
          <p:cNvPr id="5" name="Shape 3"/>
          <p:cNvSpPr/>
          <p:nvPr/>
        </p:nvSpPr>
        <p:spPr>
          <a:xfrm>
            <a:off x="731520" y="1767840"/>
            <a:ext cx="10728960" cy="67056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975360" y="1889760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i="1">
                <a:latin typeface="Calibri"/>
                <a:ea typeface="Calibri"/>
                <a:cs typeface="Calibri"/>
              </a:rPr>
              <a:t>Note: You don't need a working agent to begin—defining evaluations before development ensures you're building toward clear goals.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621280"/>
            <a:ext cx="548640" cy="54864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731520" y="2682240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33"/>
          </a:p>
        </p:txBody>
      </p:sp>
      <p:sp>
        <p:nvSpPr>
          <p:cNvPr id="9" name="Text 7"/>
          <p:cNvSpPr/>
          <p:nvPr/>
        </p:nvSpPr>
        <p:spPr>
          <a:xfrm>
            <a:off x="1463040" y="264566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Scenarios</a:t>
            </a:r>
            <a:endParaRPr lang="en-US" sz="1867"/>
          </a:p>
        </p:txBody>
      </p:sp>
      <p:sp>
        <p:nvSpPr>
          <p:cNvPr id="10" name="Text 8"/>
          <p:cNvSpPr/>
          <p:nvPr/>
        </p:nvSpPr>
        <p:spPr>
          <a:xfrm>
            <a:off x="1463040" y="301142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broad scenarios into concrete situations the agent will face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31520" y="3535680"/>
            <a:ext cx="548640" cy="54864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731520" y="3596640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33"/>
          </a:p>
        </p:txBody>
      </p:sp>
      <p:sp>
        <p:nvSpPr>
          <p:cNvPr id="13" name="Text 11"/>
          <p:cNvSpPr/>
          <p:nvPr/>
        </p:nvSpPr>
        <p:spPr>
          <a:xfrm>
            <a:off x="1463040" y="356006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Define Representative User Inputs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1463040" y="392582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Realistic queries and prompts for each scenario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731520" y="4450080"/>
            <a:ext cx="548640" cy="54864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731520" y="4511040"/>
            <a:ext cx="548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33"/>
          </a:p>
        </p:txBody>
      </p:sp>
      <p:sp>
        <p:nvSpPr>
          <p:cNvPr id="17" name="Text 15"/>
          <p:cNvSpPr/>
          <p:nvPr/>
        </p:nvSpPr>
        <p:spPr>
          <a:xfrm>
            <a:off x="1463040" y="447446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Define Acceptance Criteria</a:t>
            </a:r>
            <a:endParaRPr lang="en-US" sz="1867"/>
          </a:p>
        </p:txBody>
      </p:sp>
      <p:sp>
        <p:nvSpPr>
          <p:cNvPr id="18" name="Text 16"/>
          <p:cNvSpPr/>
          <p:nvPr/>
        </p:nvSpPr>
        <p:spPr>
          <a:xfrm>
            <a:off x="1463040" y="4840224"/>
            <a:ext cx="9997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 + input pair, specify what “good quality" looks like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731520" y="5425440"/>
            <a:ext cx="10728960" cy="1158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5360" y="5608320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write "responds helpfully“ as acceptance criteria</a:t>
            </a:r>
            <a:endParaRPr lang="en-US" sz="1733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5360" y="5998464"/>
            <a:ext cx="10241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what each relevant dimension requires for each specific case. This precision makes evaluation results actionable.</a:t>
            </a: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Establish Baseline and Iterate</a:t>
            </a:r>
            <a:endParaRPr lang="en-US" sz="3467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50"/>
              <a:t>Once you have a working agent, run your Core test cases and start iterating.</a:t>
            </a:r>
            <a:endParaRPr lang="en-US" sz="1850">
              <a:cs typeface="Segoe Sans Display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1767840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Run Your </a:t>
            </a:r>
            <a:r>
              <a:rPr lang="en-US" altLang="zh-CN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 Test Cases</a:t>
            </a:r>
            <a:endParaRPr lang="en-US" sz="1867"/>
          </a:p>
        </p:txBody>
      </p:sp>
      <p:sp>
        <p:nvSpPr>
          <p:cNvPr id="7" name="Text 4"/>
          <p:cNvSpPr/>
          <p:nvPr/>
        </p:nvSpPr>
        <p:spPr>
          <a:xfrm>
            <a:off x="1219200" y="2157984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Execute your test cases to establish baseline—a quantitative snapshot of where you're starting</a:t>
            </a:r>
            <a:endParaRPr lang="en-US" sz="1600">
              <a:cs typeface="Segoe Sans Display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4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9200" y="2743200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Analyze Failures</a:t>
            </a:r>
            <a:endParaRPr lang="en-US" sz="1867" dirty="0"/>
          </a:p>
        </p:txBody>
      </p:sp>
      <p:sp>
        <p:nvSpPr>
          <p:cNvPr id="10" name="Text 6"/>
          <p:cNvSpPr/>
          <p:nvPr/>
        </p:nvSpPr>
        <p:spPr>
          <a:xfrm>
            <a:off x="1219200" y="3133344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failures to diagnose what kind of fix is needed</a:t>
            </a:r>
            <a:endParaRPr lang="en-US" sz="16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795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19200" y="3718560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latin typeface="Calibri" pitchFamily="34" charset="0"/>
                <a:ea typeface="Calibri" pitchFamily="34" charset="-122"/>
                <a:cs typeface="Calibri" pitchFamily="34" charset="-120"/>
              </a:rPr>
              <a:t>Enter the Iteration Loop</a:t>
            </a:r>
            <a:endParaRPr lang="en-US" sz="1867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02B928B-A621-CAB8-7756-D7A743896802}"/>
              </a:ext>
            </a:extLst>
          </p:cNvPr>
          <p:cNvSpPr/>
          <p:nvPr/>
        </p:nvSpPr>
        <p:spPr>
          <a:xfrm>
            <a:off x="801401" y="4340055"/>
            <a:ext cx="2438400" cy="146304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F5A09AF-D2F9-8A82-4354-68476B5237CA}"/>
              </a:ext>
            </a:extLst>
          </p:cNvPr>
          <p:cNvSpPr/>
          <p:nvPr/>
        </p:nvSpPr>
        <p:spPr>
          <a:xfrm>
            <a:off x="801401" y="5717751"/>
            <a:ext cx="243840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C261B07-F5CC-6F1D-FB8C-3FE4F9E6A512}"/>
              </a:ext>
            </a:extLst>
          </p:cNvPr>
          <p:cNvSpPr/>
          <p:nvPr/>
        </p:nvSpPr>
        <p:spPr>
          <a:xfrm>
            <a:off x="801401" y="452293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00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8ACC435-CE62-446C-2744-4C581D194BF3}"/>
              </a:ext>
            </a:extLst>
          </p:cNvPr>
          <p:cNvSpPr/>
          <p:nvPr/>
        </p:nvSpPr>
        <p:spPr>
          <a:xfrm>
            <a:off x="923321" y="5010615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latin typeface="Calibri" pitchFamily="34" charset="0"/>
                <a:ea typeface="Calibri" pitchFamily="34" charset="-122"/>
                <a:cs typeface="Calibri" pitchFamily="34" charset="-120"/>
              </a:rPr>
              <a:t>Run test suite</a:t>
            </a:r>
            <a:endParaRPr lang="en-US" sz="1467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D35E36A-B599-4DF0-AD05-98576D94DF93}"/>
              </a:ext>
            </a:extLst>
          </p:cNvPr>
          <p:cNvSpPr/>
          <p:nvPr/>
        </p:nvSpPr>
        <p:spPr>
          <a:xfrm>
            <a:off x="3178841" y="4827735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97B38EBF-C953-F13F-3C25-3DFC1394A7B3}"/>
              </a:ext>
            </a:extLst>
          </p:cNvPr>
          <p:cNvSpPr/>
          <p:nvPr/>
        </p:nvSpPr>
        <p:spPr>
          <a:xfrm>
            <a:off x="3666521" y="4340055"/>
            <a:ext cx="2438400" cy="146304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60867699-7EB3-CC89-816D-7FEAA6D5B38D}"/>
              </a:ext>
            </a:extLst>
          </p:cNvPr>
          <p:cNvSpPr/>
          <p:nvPr/>
        </p:nvSpPr>
        <p:spPr>
          <a:xfrm>
            <a:off x="3666521" y="5717751"/>
            <a:ext cx="243840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C9712A3-A781-9CA2-6628-ADA50AA38590}"/>
              </a:ext>
            </a:extLst>
          </p:cNvPr>
          <p:cNvSpPr/>
          <p:nvPr/>
        </p:nvSpPr>
        <p:spPr>
          <a:xfrm>
            <a:off x="3666521" y="452293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0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7429760-6D8D-45C3-37B2-38BA5DA42061}"/>
              </a:ext>
            </a:extLst>
          </p:cNvPr>
          <p:cNvSpPr/>
          <p:nvPr/>
        </p:nvSpPr>
        <p:spPr>
          <a:xfrm>
            <a:off x="3788441" y="5010615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by dimension</a:t>
            </a:r>
            <a:endParaRPr lang="en-US" sz="1467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11C7211-F75D-5687-5B7D-5A442F309485}"/>
              </a:ext>
            </a:extLst>
          </p:cNvPr>
          <p:cNvSpPr/>
          <p:nvPr/>
        </p:nvSpPr>
        <p:spPr>
          <a:xfrm>
            <a:off x="6043961" y="4827735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67EB6139-B196-4DBC-76A0-E4DC119924AC}"/>
              </a:ext>
            </a:extLst>
          </p:cNvPr>
          <p:cNvSpPr/>
          <p:nvPr/>
        </p:nvSpPr>
        <p:spPr>
          <a:xfrm>
            <a:off x="6531641" y="4340055"/>
            <a:ext cx="2438400" cy="146304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E1BEE87F-E42B-18DE-456F-F69A4316E38F}"/>
              </a:ext>
            </a:extLst>
          </p:cNvPr>
          <p:cNvSpPr/>
          <p:nvPr/>
        </p:nvSpPr>
        <p:spPr>
          <a:xfrm>
            <a:off x="6531641" y="5717751"/>
            <a:ext cx="243840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CDB616A3-2432-7183-2CA4-AD01894F41CF}"/>
              </a:ext>
            </a:extLst>
          </p:cNvPr>
          <p:cNvSpPr/>
          <p:nvPr/>
        </p:nvSpPr>
        <p:spPr>
          <a:xfrm>
            <a:off x="6531641" y="452293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20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0C7A66CA-AB6D-7A3C-6DD9-F2FCE8922FF3}"/>
              </a:ext>
            </a:extLst>
          </p:cNvPr>
          <p:cNvSpPr/>
          <p:nvPr/>
        </p:nvSpPr>
        <p:spPr>
          <a:xfrm>
            <a:off x="6653561" y="5010615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latin typeface="Calibri" pitchFamily="34" charset="0"/>
                <a:ea typeface="Calibri" pitchFamily="34" charset="-122"/>
                <a:cs typeface="Calibri" pitchFamily="34" charset="-120"/>
              </a:rPr>
              <a:t>Make targeted fixes</a:t>
            </a:r>
            <a:endParaRPr lang="en-US" sz="1467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77E98AA6-A612-CDF9-16CE-FDF73865B9EB}"/>
              </a:ext>
            </a:extLst>
          </p:cNvPr>
          <p:cNvSpPr/>
          <p:nvPr/>
        </p:nvSpPr>
        <p:spPr>
          <a:xfrm>
            <a:off x="8909081" y="4827735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DD6710CD-2650-2176-3CBC-831DB50EAF2E}"/>
              </a:ext>
            </a:extLst>
          </p:cNvPr>
          <p:cNvSpPr/>
          <p:nvPr/>
        </p:nvSpPr>
        <p:spPr>
          <a:xfrm>
            <a:off x="9396761" y="4340055"/>
            <a:ext cx="2438400" cy="146304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32B8AFC9-289C-C97C-4BDA-BFB91D02B1C0}"/>
              </a:ext>
            </a:extLst>
          </p:cNvPr>
          <p:cNvSpPr/>
          <p:nvPr/>
        </p:nvSpPr>
        <p:spPr>
          <a:xfrm>
            <a:off x="9396761" y="5717751"/>
            <a:ext cx="2438400" cy="85344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0F335E38-2DA3-CBB1-88E7-6FC775B5F0AB}"/>
              </a:ext>
            </a:extLst>
          </p:cNvPr>
          <p:cNvSpPr/>
          <p:nvPr/>
        </p:nvSpPr>
        <p:spPr>
          <a:xfrm>
            <a:off x="9396761" y="452293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</a:t>
            </a:r>
            <a:endParaRPr lang="en-US" sz="200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0F976EDE-B95C-0AF0-531C-CCDD7305136D}"/>
              </a:ext>
            </a:extLst>
          </p:cNvPr>
          <p:cNvSpPr/>
          <p:nvPr/>
        </p:nvSpPr>
        <p:spPr>
          <a:xfrm>
            <a:off x="9518681" y="5010615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latin typeface="Calibri" pitchFamily="34" charset="0"/>
                <a:ea typeface="Calibri" pitchFamily="34" charset="-122"/>
                <a:cs typeface="Calibri" pitchFamily="34" charset="-120"/>
              </a:rPr>
              <a:t>Verify improvements</a:t>
            </a:r>
            <a:endParaRPr lang="en-US" sz="1467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4F13B327-0500-C943-258B-C044715ECAB6}"/>
              </a:ext>
            </a:extLst>
          </p:cNvPr>
          <p:cNvSpPr/>
          <p:nvPr/>
        </p:nvSpPr>
        <p:spPr>
          <a:xfrm>
            <a:off x="2995961" y="6046935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i="1">
                <a:latin typeface="Calibri" pitchFamily="34" charset="0"/>
                <a:ea typeface="Calibri" pitchFamily="34" charset="-122"/>
                <a:cs typeface="Calibri" pitchFamily="34" charset="-120"/>
              </a:rPr>
              <a:t>↻ Repeat until quality targets met</a:t>
            </a:r>
            <a:endParaRPr lang="en-US" sz="1733"/>
          </a:p>
        </p:txBody>
      </p:sp>
    </p:spTree>
    <p:extLst>
      <p:ext uri="{BB962C8B-B14F-4D97-AF65-F5344CB8AC3E}">
        <p14:creationId xmlns:p14="http://schemas.microsoft.com/office/powerpoint/2010/main" val="169152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Systematic Expansion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 evaluation suite organized into four purposeful categories:</a:t>
            </a:r>
            <a:endParaRPr lang="en-US" sz="1867"/>
          </a:p>
        </p:txBody>
      </p:sp>
      <p:sp>
        <p:nvSpPr>
          <p:cNvPr id="5" name="Shape 3"/>
          <p:cNvSpPr/>
          <p:nvPr/>
        </p:nvSpPr>
        <p:spPr>
          <a:xfrm>
            <a:off x="731520" y="1767840"/>
            <a:ext cx="1072896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914400" y="185318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67"/>
          </a:p>
        </p:txBody>
      </p:sp>
      <p:sp>
        <p:nvSpPr>
          <p:cNvPr id="7" name="Text 5"/>
          <p:cNvSpPr/>
          <p:nvPr/>
        </p:nvSpPr>
        <p:spPr>
          <a:xfrm>
            <a:off x="3779520" y="1853184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7437120" y="1853184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Fails...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731520" y="2316480"/>
            <a:ext cx="10728960" cy="67056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914400" y="249936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(Regression)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3779520" y="249936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essential functionality still works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7437120" y="2499360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broke—investigate recent changes</a:t>
            </a:r>
            <a:endParaRPr lang="en-US" sz="1333"/>
          </a:p>
        </p:txBody>
      </p:sp>
      <p:sp>
        <p:nvSpPr>
          <p:cNvPr id="13" name="Shape 11"/>
          <p:cNvSpPr/>
          <p:nvPr/>
        </p:nvSpPr>
        <p:spPr>
          <a:xfrm>
            <a:off x="731520" y="2987040"/>
            <a:ext cx="1072896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914400" y="316992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(Generalization)</a:t>
            </a:r>
            <a:endParaRPr lang="en-US" sz="1467"/>
          </a:p>
        </p:txBody>
      </p:sp>
      <p:sp>
        <p:nvSpPr>
          <p:cNvPr id="15" name="Text 13"/>
          <p:cNvSpPr/>
          <p:nvPr/>
        </p:nvSpPr>
        <p:spPr>
          <a:xfrm>
            <a:off x="3779520" y="316992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success generalizes beyond exact tests</a:t>
            </a:r>
            <a:endParaRPr lang="en-US" sz="1333"/>
          </a:p>
        </p:txBody>
      </p:sp>
      <p:sp>
        <p:nvSpPr>
          <p:cNvPr id="16" name="Text 14"/>
          <p:cNvSpPr/>
          <p:nvPr/>
        </p:nvSpPr>
        <p:spPr>
          <a:xfrm>
            <a:off x="7437120" y="3169920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brittle—may be overfitted</a:t>
            </a:r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10728960" cy="67056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(Diagnostic)</a:t>
            </a:r>
            <a:endParaRPr lang="en-US" sz="1467"/>
          </a:p>
        </p:txBody>
      </p:sp>
      <p:sp>
        <p:nvSpPr>
          <p:cNvPr id="19" name="Text 17"/>
          <p:cNvSpPr/>
          <p:nvPr/>
        </p:nvSpPr>
        <p:spPr>
          <a:xfrm>
            <a:off x="3779520" y="384048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where in system failures occur</a:t>
            </a:r>
            <a:endParaRPr lang="en-US" sz="1333"/>
          </a:p>
        </p:txBody>
      </p:sp>
      <p:sp>
        <p:nvSpPr>
          <p:cNvPr id="20" name="Text 18"/>
          <p:cNvSpPr/>
          <p:nvPr/>
        </p:nvSpPr>
        <p:spPr>
          <a:xfrm>
            <a:off x="7437120" y="3840480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component needs attention</a:t>
            </a:r>
            <a:endParaRPr lang="en-US" sz="1333"/>
          </a:p>
        </p:txBody>
      </p:sp>
      <p:sp>
        <p:nvSpPr>
          <p:cNvPr id="21" name="Shape 19"/>
          <p:cNvSpPr/>
          <p:nvPr/>
        </p:nvSpPr>
        <p:spPr>
          <a:xfrm>
            <a:off x="731520" y="4328160"/>
            <a:ext cx="1072896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914400" y="451104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(Robustness)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3779520" y="451104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graceful handling of unusual inputs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7437120" y="4511040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need improvement</a:t>
            </a:r>
            <a:endParaRPr lang="en-US" sz="1333"/>
          </a:p>
        </p:txBody>
      </p:sp>
      <p:sp>
        <p:nvSpPr>
          <p:cNvPr id="25" name="Text 23"/>
          <p:cNvSpPr/>
          <p:nvPr/>
        </p:nvSpPr>
        <p:spPr>
          <a:xfrm>
            <a:off x="731520" y="51816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serves a specific purpose—understanding these helps you know how to act on results.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731520" y="5669280"/>
            <a:ext cx="10728960" cy="975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Text 25"/>
          <p:cNvSpPr/>
          <p:nvPr/>
        </p:nvSpPr>
        <p:spPr>
          <a:xfrm>
            <a:off x="975360" y="5852160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transforms debugging from "the agent gave a wrong answer" to "the knowledge retrieval returned an outdated document" or "the routing logic failed to detect a sensitive topic."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61779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2: Variations (Generalization Testing)</a:t>
            </a:r>
            <a:endParaRPr lang="en-US" sz="3467"/>
          </a:p>
        </p:txBody>
      </p:sp>
      <p:sp>
        <p:nvSpPr>
          <p:cNvPr id="4" name="Shape 2"/>
          <p:cNvSpPr/>
          <p:nvPr/>
        </p:nvSpPr>
        <p:spPr>
          <a:xfrm>
            <a:off x="731520" y="1219200"/>
            <a:ext cx="10728960" cy="73152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75360" y="1365504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Test whether success on core scenarios generalizes to realistic diversity.</a:t>
            </a:r>
            <a:endParaRPr lang="en-US" sz="1867"/>
          </a:p>
        </p:txBody>
      </p:sp>
      <p:sp>
        <p:nvSpPr>
          <p:cNvPr id="6" name="Text 4"/>
          <p:cNvSpPr/>
          <p:nvPr/>
        </p:nvSpPr>
        <p:spPr>
          <a:xfrm>
            <a:off x="731520" y="21336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whether your agent truly understands the task or is just pattern-matching specific phrasings.</a:t>
            </a:r>
            <a:endParaRPr lang="en-US" sz="1733"/>
          </a:p>
        </p:txBody>
      </p:sp>
      <p:sp>
        <p:nvSpPr>
          <p:cNvPr id="7" name="Text 5"/>
          <p:cNvSpPr/>
          <p:nvPr/>
        </p:nvSpPr>
        <p:spPr>
          <a:xfrm>
            <a:off x="731520" y="26822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Variations to Introduce: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Variations: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3535680" y="3108960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PTO days?" → "What's my vacation balance?" → "Days off remaining?"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731520" y="3621024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Variations: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535680" y="3621024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query → Multi-part question → Query with conditions</a:t>
            </a:r>
            <a:endParaRPr lang="en-US" sz="1467"/>
          </a:p>
        </p:txBody>
      </p:sp>
      <p:sp>
        <p:nvSpPr>
          <p:cNvPr id="12" name="Text 10"/>
          <p:cNvSpPr/>
          <p:nvPr/>
        </p:nvSpPr>
        <p:spPr>
          <a:xfrm>
            <a:off x="731520" y="4133088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Variations: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535680" y="4133088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 situations, tenure levels, departments, locations</a:t>
            </a:r>
            <a:endParaRPr lang="en-US" sz="1467"/>
          </a:p>
        </p:txBody>
      </p:sp>
      <p:sp>
        <p:nvSpPr>
          <p:cNvPr id="14" name="Text 12"/>
          <p:cNvSpPr/>
          <p:nvPr/>
        </p:nvSpPr>
        <p:spPr>
          <a:xfrm>
            <a:off x="731520" y="4645152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Variations: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535680" y="4645152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 vs. veteran, different roles, technical vs. non-technical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Variations Fail:</a:t>
            </a:r>
            <a:endParaRPr lang="en-US" sz="1867"/>
          </a:p>
        </p:txBody>
      </p:sp>
      <p:sp>
        <p:nvSpPr>
          <p:cNvPr id="17" name="Shape 15"/>
          <p:cNvSpPr/>
          <p:nvPr/>
        </p:nvSpPr>
        <p:spPr>
          <a:xfrm>
            <a:off x="731520" y="5669280"/>
            <a:ext cx="10728960" cy="60960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975360" y="5791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brittle—may be overfitted to specific phrasings or test cases. Consider broadening training data or prompts.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088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3: Architecture Tests (Diagnostic)</a:t>
            </a:r>
            <a:endParaRPr lang="en-US" sz="3467"/>
          </a:p>
        </p:txBody>
      </p:sp>
      <p:sp>
        <p:nvSpPr>
          <p:cNvPr id="4" name="Shape 2"/>
          <p:cNvSpPr/>
          <p:nvPr/>
        </p:nvSpPr>
        <p:spPr>
          <a:xfrm>
            <a:off x="731520" y="1219200"/>
            <a:ext cx="10728960" cy="73152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75360" y="1365504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When something fails, pinpoint where in the system the failure occurred.</a:t>
            </a:r>
            <a:endParaRPr lang="en-US" sz="1867"/>
          </a:p>
        </p:txBody>
      </p:sp>
      <p:sp>
        <p:nvSpPr>
          <p:cNvPr id="6" name="Text 4"/>
          <p:cNvSpPr/>
          <p:nvPr/>
        </p:nvSpPr>
        <p:spPr>
          <a:xfrm>
            <a:off x="731520" y="21336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tests that isolate specific components: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728960" cy="67056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914400" y="270662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3657600" y="27066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Time-appropriate docs retrieved? Terminology matching works? Correct source selected?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731520" y="3230880"/>
            <a:ext cx="10728960" cy="670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914400" y="337718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Tool/Connector Execution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657600" y="33771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 handling? Error responses graceful? Authentication working?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731520" y="3901440"/>
            <a:ext cx="10728960" cy="67056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914400" y="404774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657600" y="4047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queries handled? Sensitive topics detected? Correct escalation paths?</a:t>
            </a:r>
            <a:endParaRPr lang="en-US" sz="1467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728960" cy="67056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914400" y="471830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657600" y="47183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working? Data passed correctly between components?</a:t>
            </a:r>
            <a:endParaRPr lang="en-US" sz="1467"/>
          </a:p>
        </p:txBody>
      </p:sp>
      <p:sp>
        <p:nvSpPr>
          <p:cNvPr id="19" name="Shape 17"/>
          <p:cNvSpPr/>
          <p:nvPr/>
        </p:nvSpPr>
        <p:spPr>
          <a:xfrm>
            <a:off x="731520" y="5364480"/>
            <a:ext cx="1072896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975360" y="5547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transforms debugging from "the agent gave a wrong answer" to "the knowledge retrieval returned an outdated document."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2635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4: Edge Cases (Robustness)</a:t>
            </a:r>
            <a:endParaRPr lang="en-US" sz="3467"/>
          </a:p>
        </p:txBody>
      </p:sp>
      <p:sp>
        <p:nvSpPr>
          <p:cNvPr id="4" name="Shape 2"/>
          <p:cNvSpPr/>
          <p:nvPr/>
        </p:nvSpPr>
        <p:spPr>
          <a:xfrm>
            <a:off x="731520" y="1219200"/>
            <a:ext cx="10728960" cy="73152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975360" y="1365504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Test boundary conditions, adversarial inputs, and scenarios where the agent should gracefully decline.</a:t>
            </a:r>
            <a:endParaRPr lang="en-US" sz="1867"/>
          </a:p>
        </p:txBody>
      </p:sp>
      <p:sp>
        <p:nvSpPr>
          <p:cNvPr id="6" name="Text 4"/>
          <p:cNvSpPr/>
          <p:nvPr/>
        </p:nvSpPr>
        <p:spPr>
          <a:xfrm>
            <a:off x="731520" y="21336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tests verify the agent fails safely when it should fail.</a:t>
            </a:r>
            <a:endParaRPr lang="en-US" sz="1733"/>
          </a:p>
        </p:txBody>
      </p:sp>
      <p:sp>
        <p:nvSpPr>
          <p:cNvPr id="7" name="Shape 5"/>
          <p:cNvSpPr/>
          <p:nvPr/>
        </p:nvSpPr>
        <p:spPr>
          <a:xfrm>
            <a:off x="731520" y="2621280"/>
            <a:ext cx="10728960" cy="85344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14400" y="3084576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inputs (1000+ chars), single word inputs, special characters, multiple questions in one message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731520" y="3596640"/>
            <a:ext cx="10728960" cy="85344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914400" y="3718560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Inputs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914400" y="4059936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attempts, requests for unauthorized information, attempts to bypass guardrails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10728960" cy="85344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914400" y="4693920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Decline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14400" y="5035296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requests, questions requiring human judgment, requests the agent shouldn't answer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731520" y="560832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Edge Cases Fail:</a:t>
            </a:r>
            <a:endParaRPr lang="en-US" sz="1733"/>
          </a:p>
        </p:txBody>
      </p:sp>
      <p:sp>
        <p:nvSpPr>
          <p:cNvPr id="17" name="Text 15"/>
          <p:cNvSpPr/>
          <p:nvPr/>
        </p:nvSpPr>
        <p:spPr>
          <a:xfrm>
            <a:off x="731520" y="597408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needs better guardrails or fallback behaviors. These failures represent safety and robustness gaps.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5466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731520" y="24384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Operationalize for Continuous Quality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operational rhythms that keep quality visible and enable confident iteration.</a:t>
            </a:r>
            <a:endParaRPr lang="en-US" sz="1867"/>
          </a:p>
        </p:txBody>
      </p:sp>
      <p:sp>
        <p:nvSpPr>
          <p:cNvPr id="5" name="Text 3"/>
          <p:cNvSpPr/>
          <p:nvPr/>
        </p:nvSpPr>
        <p:spPr>
          <a:xfrm>
            <a:off x="731520" y="17678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Cadence</a:t>
            </a:r>
            <a:endParaRPr lang="en-US" sz="1867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242560" cy="487680"/>
          </a:xfrm>
          <a:prstGeom prst="rect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914400" y="2279904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3413760" y="2279904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Run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731520" y="2682240"/>
            <a:ext cx="5242560" cy="463296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914400" y="2779776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3413760" y="2779776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</a:t>
            </a:r>
            <a:endParaRPr lang="en-US" sz="1467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5242560" cy="463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914400" y="3243072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</a:t>
            </a:r>
            <a:endParaRPr lang="en-US" sz="1467"/>
          </a:p>
        </p:txBody>
      </p:sp>
      <p:sp>
        <p:nvSpPr>
          <p:cNvPr id="14" name="Text 12"/>
          <p:cNvSpPr/>
          <p:nvPr/>
        </p:nvSpPr>
        <p:spPr>
          <a:xfrm>
            <a:off x="3413760" y="3243072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release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731520" y="3608832"/>
            <a:ext cx="5242560" cy="463296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914400" y="3706368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67"/>
          </a:p>
        </p:txBody>
      </p:sp>
      <p:sp>
        <p:nvSpPr>
          <p:cNvPr id="17" name="Text 15"/>
          <p:cNvSpPr/>
          <p:nvPr/>
        </p:nvSpPr>
        <p:spPr>
          <a:xfrm>
            <a:off x="3413760" y="3706368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debugging failures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731520" y="4072128"/>
            <a:ext cx="5242560" cy="4632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67"/>
          </a:p>
        </p:txBody>
      </p:sp>
      <p:sp>
        <p:nvSpPr>
          <p:cNvPr id="20" name="Text 18"/>
          <p:cNvSpPr/>
          <p:nvPr/>
        </p:nvSpPr>
        <p:spPr>
          <a:xfrm>
            <a:off x="3413760" y="4169664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release + after guardrail changes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339840" y="176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Triggers</a:t>
            </a:r>
            <a:endParaRPr lang="en-US" sz="1867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194560"/>
            <a:ext cx="243840" cy="2438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05600" y="2194560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the underlying model</a:t>
            </a:r>
            <a:endParaRPr lang="en-US" sz="1467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621280"/>
            <a:ext cx="243840" cy="2438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05600" y="2621280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knowledge base updates</a:t>
            </a:r>
            <a:endParaRPr lang="en-US" sz="1467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3048000"/>
            <a:ext cx="243840" cy="2438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05600" y="3048000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 or connector integrations</a:t>
            </a:r>
            <a:endParaRPr lang="en-US" sz="1467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3474720"/>
            <a:ext cx="243840" cy="2438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05600" y="3474720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production deployment</a:t>
            </a:r>
            <a:endParaRPr lang="en-US" sz="1467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3901440"/>
            <a:ext cx="243840" cy="2438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05600" y="3901440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production incidents</a:t>
            </a:r>
            <a:endParaRPr lang="en-US" sz="1467"/>
          </a:p>
        </p:txBody>
      </p:sp>
      <p:sp>
        <p:nvSpPr>
          <p:cNvPr id="32" name="Shape 25"/>
          <p:cNvSpPr/>
          <p:nvPr/>
        </p:nvSpPr>
        <p:spPr>
          <a:xfrm>
            <a:off x="731520" y="4876800"/>
            <a:ext cx="10728960" cy="1402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3" name="Text 26"/>
          <p:cNvSpPr/>
          <p:nvPr/>
        </p:nvSpPr>
        <p:spPr>
          <a:xfrm>
            <a:off x="975360" y="5059680"/>
            <a:ext cx="10241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Confident Iteration</a:t>
            </a:r>
            <a:endParaRPr lang="en-US" sz="1733"/>
          </a:p>
        </p:txBody>
      </p:sp>
      <p:sp>
        <p:nvSpPr>
          <p:cNvPr id="34" name="Text 27"/>
          <p:cNvSpPr/>
          <p:nvPr/>
        </p:nvSpPr>
        <p:spPr>
          <a:xfrm>
            <a:off x="975360" y="5486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Experiment with prompt changes and see immediate impact across all test cases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models confidently by comparing performance on the full suite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for drift by catching gradual degradation before it affects users</a:t>
            </a:r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185315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336C581-BB47-1518-936D-45B0F28A0CF1}"/>
              </a:ext>
            </a:extLst>
          </p:cNvPr>
          <p:cNvSpPr/>
          <p:nvPr/>
        </p:nvSpPr>
        <p:spPr>
          <a:xfrm>
            <a:off x="774700" y="1098550"/>
            <a:ext cx="10563860" cy="475615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853440" y="426720"/>
            <a:ext cx="10485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733"/>
          </a:p>
        </p:txBody>
      </p:sp>
      <p:sp>
        <p:nvSpPr>
          <p:cNvPr id="4" name="Shape 2"/>
          <p:cNvSpPr/>
          <p:nvPr/>
        </p:nvSpPr>
        <p:spPr>
          <a:xfrm>
            <a:off x="853440" y="1219200"/>
            <a:ext cx="670560" cy="67056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316736"/>
            <a:ext cx="487680" cy="48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7840" y="1243584"/>
            <a:ext cx="957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Define tailored quality signals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1767840" y="1609344"/>
            <a:ext cx="957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Derive from scenarios and stakeholders—not generic checklists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853440" y="2133600"/>
            <a:ext cx="670560" cy="67056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231136"/>
            <a:ext cx="487680" cy="48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67840" y="2157984"/>
            <a:ext cx="957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four-stage framework</a:t>
            </a:r>
            <a:endParaRPr lang="en-US" sz="2000"/>
          </a:p>
        </p:txBody>
      </p:sp>
      <p:sp>
        <p:nvSpPr>
          <p:cNvPr id="11" name="Text 7"/>
          <p:cNvSpPr/>
          <p:nvPr/>
        </p:nvSpPr>
        <p:spPr>
          <a:xfrm>
            <a:off x="1767840" y="2523744"/>
            <a:ext cx="957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Baseline → Expand → Operationalize (iterate throughout)</a:t>
            </a:r>
            <a:endParaRPr lang="en-US" sz="1600"/>
          </a:p>
        </p:txBody>
      </p:sp>
      <p:sp>
        <p:nvSpPr>
          <p:cNvPr id="12" name="Shape 8"/>
          <p:cNvSpPr/>
          <p:nvPr/>
        </p:nvSpPr>
        <p:spPr>
          <a:xfrm>
            <a:off x="853440" y="3048000"/>
            <a:ext cx="670560" cy="67056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145536"/>
            <a:ext cx="487680" cy="487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67840" y="3072384"/>
            <a:ext cx="957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Use four evaluation categories</a:t>
            </a:r>
            <a:endParaRPr lang="en-US" sz="2000"/>
          </a:p>
        </p:txBody>
      </p:sp>
      <p:sp>
        <p:nvSpPr>
          <p:cNvPr id="15" name="Text 10"/>
          <p:cNvSpPr/>
          <p:nvPr/>
        </p:nvSpPr>
        <p:spPr>
          <a:xfrm>
            <a:off x="1767840" y="3438144"/>
            <a:ext cx="957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Core, Variations, Architecture, Edge Cases—each serves a purpose</a:t>
            </a:r>
            <a:endParaRPr lang="en-US" sz="1600"/>
          </a:p>
        </p:txBody>
      </p:sp>
      <p:sp>
        <p:nvSpPr>
          <p:cNvPr id="16" name="Shape 11"/>
          <p:cNvSpPr/>
          <p:nvPr/>
        </p:nvSpPr>
        <p:spPr>
          <a:xfrm>
            <a:off x="853440" y="3962400"/>
            <a:ext cx="670560" cy="67056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059936"/>
            <a:ext cx="487680" cy="4876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67840" y="3986784"/>
            <a:ext cx="957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Embrace the iteration loop</a:t>
            </a:r>
            <a:endParaRPr lang="en-US" sz="2000"/>
          </a:p>
        </p:txBody>
      </p:sp>
      <p:sp>
        <p:nvSpPr>
          <p:cNvPr id="19" name="Text 13"/>
          <p:cNvSpPr/>
          <p:nvPr/>
        </p:nvSpPr>
        <p:spPr>
          <a:xfrm>
            <a:off x="1767840" y="4352544"/>
            <a:ext cx="957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Evaluate → Analyze → Improve → Re-evaluate continuously</a:t>
            </a:r>
            <a:endParaRPr lang="en-US" sz="1600"/>
          </a:p>
        </p:txBody>
      </p:sp>
      <p:sp>
        <p:nvSpPr>
          <p:cNvPr id="20" name="Shape 14"/>
          <p:cNvSpPr/>
          <p:nvPr/>
        </p:nvSpPr>
        <p:spPr>
          <a:xfrm>
            <a:off x="853440" y="4876800"/>
            <a:ext cx="670560" cy="670560"/>
          </a:xfrm>
          <a:prstGeom prst="ellipse">
            <a:avLst/>
          </a:prstGeom>
          <a:solidFill>
            <a:srgbClr val="408EC6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974336"/>
            <a:ext cx="487680" cy="4876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67840" y="4901184"/>
            <a:ext cx="957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for confidence</a:t>
            </a:r>
            <a:endParaRPr lang="en-US" sz="2000"/>
          </a:p>
        </p:txBody>
      </p:sp>
      <p:sp>
        <p:nvSpPr>
          <p:cNvPr id="23" name="Text 16"/>
          <p:cNvSpPr/>
          <p:nvPr/>
        </p:nvSpPr>
        <p:spPr>
          <a:xfrm>
            <a:off x="1767840" y="5266944"/>
            <a:ext cx="957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cadence to move fast without breaking things</a:t>
            </a:r>
            <a:endParaRPr lang="en-US" sz="1600"/>
          </a:p>
        </p:txBody>
      </p:sp>
      <p:sp>
        <p:nvSpPr>
          <p:cNvPr id="24" name="Shape 17"/>
          <p:cNvSpPr/>
          <p:nvPr/>
        </p:nvSpPr>
        <p:spPr>
          <a:xfrm>
            <a:off x="774700" y="5913120"/>
            <a:ext cx="10563860" cy="792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5" name="Text 18"/>
          <p:cNvSpPr/>
          <p:nvPr/>
        </p:nvSpPr>
        <p:spPr>
          <a:xfrm>
            <a:off x="1097280" y="6071616"/>
            <a:ext cx="9997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Turn "the agent isn't good enough" into specific, actionable insights about exactly what to fix.</a:t>
            </a:r>
            <a:endParaRPr lang="en-US" sz="1733" b="1" dirty="0"/>
          </a:p>
        </p:txBody>
      </p:sp>
    </p:spTree>
    <p:extLst>
      <p:ext uri="{BB962C8B-B14F-4D97-AF65-F5344CB8AC3E}">
        <p14:creationId xmlns:p14="http://schemas.microsoft.com/office/powerpoint/2010/main" val="282589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9CBC65671D2944B009D89F4AE92301" ma:contentTypeVersion="13" ma:contentTypeDescription="Create a new document." ma:contentTypeScope="" ma:versionID="8ee030f2a6c43eca528581031657fbff">
  <xsd:schema xmlns:xsd="http://www.w3.org/2001/XMLSchema" xmlns:xs="http://www.w3.org/2001/XMLSchema" xmlns:p="http://schemas.microsoft.com/office/2006/metadata/properties" xmlns:ns1="http://schemas.microsoft.com/sharepoint/v3" xmlns:ns2="5bf86d51-1aae-495c-990b-be8f665bde85" targetNamespace="http://schemas.microsoft.com/office/2006/metadata/properties" ma:root="true" ma:fieldsID="4613cc86543187719e5c89fb5a6b2388" ns1:_="" ns2:_="">
    <xsd:import namespace="http://schemas.microsoft.com/sharepoint/v3"/>
    <xsd:import namespace="5bf86d51-1aae-495c-990b-be8f665bde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f86d51-1aae-495c-990b-be8f665bde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5bf86d51-1aae-495c-990b-be8f665bde85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CD81CAD-D0E0-4053-88C0-610E86D6A917}"/>
</file>

<file path=customXml/itemProps2.xml><?xml version="1.0" encoding="utf-8"?>
<ds:datastoreItem xmlns:ds="http://schemas.openxmlformats.org/officeDocument/2006/customXml" ds:itemID="{F30EF2C8-8E3A-4B17-9337-A751463D109E}"/>
</file>

<file path=customXml/itemProps3.xml><?xml version="1.0" encoding="utf-8"?>
<ds:datastoreItem xmlns:ds="http://schemas.openxmlformats.org/officeDocument/2006/customXml" ds:itemID="{86067062-55C1-4A66-A0C1-C5C41F621842}"/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1391</Words>
  <Application>Microsoft Office PowerPoint</Application>
  <PresentationFormat>Widescreen</PresentationFormat>
  <Paragraphs>232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Georgia</vt:lpstr>
      <vt:lpstr>Segoe Sans Display</vt:lpstr>
      <vt:lpstr>Office Theme</vt:lpstr>
      <vt:lpstr>AI Agent Evaluation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Serena Xie</dc:creator>
  <cp:lastModifiedBy>Serena Xie</cp:lastModifiedBy>
  <cp:revision>1</cp:revision>
  <dcterms:created xsi:type="dcterms:W3CDTF">2026-01-28T22:29:34Z</dcterms:created>
  <dcterms:modified xsi:type="dcterms:W3CDTF">2026-01-29T22:33:39Z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0x010100A39CBC65671D2944B009D89F4AE92301</vt:lpwstr>
  </property>
  <property fmtid="{D5CDD505-2E9C-101B-9397-08002B2CF9AE}" pid="3" name="MediaServiceImageTags">
    <vt:lpwstr/>
  </property>
</Properties>
</file>